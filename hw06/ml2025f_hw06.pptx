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y="6858000" cx="12192000"/>
  <p:notesSz cx="6858000" cy="9144000"/>
  <p:embeddedFontLst>
    <p:embeddedFont>
      <p:font typeface="Mulish ExtraLight"/>
      <p:regular r:id="rId32"/>
      <p:bold r:id="rId33"/>
      <p:italic r:id="rId34"/>
      <p:boldItalic r:id="rId35"/>
    </p:embeddedFont>
    <p:embeddedFont>
      <p:font typeface="Mulish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9">
          <p15:clr>
            <a:srgbClr val="A4A3A4"/>
          </p15:clr>
        </p15:guide>
        <p15:guide id="2" pos="597">
          <p15:clr>
            <a:srgbClr val="A4A3A4"/>
          </p15:clr>
        </p15:guide>
        <p15:guide id="3" pos="6947">
          <p15:clr>
            <a:srgbClr val="A4A3A4"/>
          </p15:clr>
        </p15:guide>
        <p15:guide id="4" orient="horz" pos="3589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h9FwoPc51nJ2IZyvKV6UuN68IO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9" orient="horz"/>
        <p:guide pos="597"/>
        <p:guide pos="6947"/>
        <p:guide pos="35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MulishExtraLight-bold.fntdata"/><Relationship Id="rId10" Type="http://schemas.openxmlformats.org/officeDocument/2006/relationships/slide" Target="slides/slide2.xml"/><Relationship Id="rId32" Type="http://schemas.openxmlformats.org/officeDocument/2006/relationships/font" Target="fonts/MulishExtraLight-regular.fntdata"/><Relationship Id="rId13" Type="http://schemas.openxmlformats.org/officeDocument/2006/relationships/slide" Target="slides/slide5.xml"/><Relationship Id="rId35" Type="http://schemas.openxmlformats.org/officeDocument/2006/relationships/font" Target="fonts/MulishExtraLight-boldItalic.fntdata"/><Relationship Id="rId12" Type="http://schemas.openxmlformats.org/officeDocument/2006/relationships/slide" Target="slides/slide4.xml"/><Relationship Id="rId34" Type="http://schemas.openxmlformats.org/officeDocument/2006/relationships/font" Target="fonts/MulishExtraLight-italic.fntdata"/><Relationship Id="rId15" Type="http://schemas.openxmlformats.org/officeDocument/2006/relationships/slide" Target="slides/slide7.xml"/><Relationship Id="rId37" Type="http://schemas.openxmlformats.org/officeDocument/2006/relationships/font" Target="fonts/Mulish-bold.fntdata"/><Relationship Id="rId14" Type="http://schemas.openxmlformats.org/officeDocument/2006/relationships/slide" Target="slides/slide6.xml"/><Relationship Id="rId36" Type="http://schemas.openxmlformats.org/officeDocument/2006/relationships/font" Target="fonts/Mulish-regular.fntdata"/><Relationship Id="rId17" Type="http://schemas.openxmlformats.org/officeDocument/2006/relationships/slide" Target="slides/slide9.xml"/><Relationship Id="rId39" Type="http://schemas.openxmlformats.org/officeDocument/2006/relationships/font" Target="fonts/Mulish-boldItalic.fntdata"/><Relationship Id="rId16" Type="http://schemas.openxmlformats.org/officeDocument/2006/relationships/slide" Target="slides/slide8.xml"/><Relationship Id="rId38" Type="http://schemas.openxmlformats.org/officeDocument/2006/relationships/font" Target="fonts/Mulish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91017960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791017960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2791017960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10a4e5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2f510a4e5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025d161b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9b025d161b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b025d161b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9b025d161b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b025d161b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b025d161b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025d161b_0_4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9b025d161b_0_4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b025d161b_0_5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9b025d161b_0_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b025d161b_0_5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9b025d161b_0_5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b025d161b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9b025d161b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b025d161b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9b025d161b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b025d161b_0_6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9b025d161b_0_6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b025d161b_0_6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9b025d161b_0_6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b025d161b_0_6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9b025d161b_0_6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b025d161b_0_7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9b025d161b_0_7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11f23a0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g3311f23a0b7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08cba9ff3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208cba9ff3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208cba9ff3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08cba9ff31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208cba9ff31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208cba9ff31_2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967109" y="2141506"/>
            <a:ext cx="6356480" cy="188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2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967109" y="2162200"/>
            <a:ext cx="6356480" cy="185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" name="Google Shape;29;p31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67"/>
          <p:cNvSpPr txBox="1"/>
          <p:nvPr>
            <p:ph type="ctrTitle"/>
          </p:nvPr>
        </p:nvSpPr>
        <p:spPr>
          <a:xfrm>
            <a:off x="966788" y="2241418"/>
            <a:ext cx="635648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7"/>
          <p:cNvSpPr txBox="1"/>
          <p:nvPr>
            <p:ph idx="2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8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" name="Google Shape;37;p68"/>
          <p:cNvSpPr txBox="1"/>
          <p:nvPr>
            <p:ph idx="1" type="body"/>
          </p:nvPr>
        </p:nvSpPr>
        <p:spPr>
          <a:xfrm>
            <a:off x="967109" y="2246089"/>
            <a:ext cx="6356480" cy="25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8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8"/>
          <p:cNvSpPr txBox="1"/>
          <p:nvPr>
            <p:ph idx="3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/>
          <p:nvPr>
            <p:ph idx="2" type="pic"/>
          </p:nvPr>
        </p:nvSpPr>
        <p:spPr>
          <a:xfrm>
            <a:off x="0" y="0"/>
            <a:ext cx="1200351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954088" y="1578855"/>
            <a:ext cx="10102795" cy="413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4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4"/>
          <p:cNvSpPr txBox="1"/>
          <p:nvPr>
            <p:ph type="ctrTitle"/>
          </p:nvPr>
        </p:nvSpPr>
        <p:spPr>
          <a:xfrm>
            <a:off x="953359" y="359005"/>
            <a:ext cx="10455376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5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25"/>
          <p:cNvSpPr txBox="1"/>
          <p:nvPr>
            <p:ph type="ctrTitle"/>
          </p:nvPr>
        </p:nvSpPr>
        <p:spPr>
          <a:xfrm>
            <a:off x="953359" y="360637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b025d161b_0_14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9b025d161b_0_14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9b025d161b_0_144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g39b025d161b_0_14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b025d161b_0_149"/>
          <p:cNvSpPr/>
          <p:nvPr>
            <p:ph idx="2" type="pic"/>
          </p:nvPr>
        </p:nvSpPr>
        <p:spPr>
          <a:xfrm>
            <a:off x="0" y="0"/>
            <a:ext cx="12003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g39b025d161b_0_14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b025d161b_0_152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9b025d161b_0_15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9b025d161b_0_152"/>
          <p:cNvSpPr txBox="1"/>
          <p:nvPr>
            <p:ph idx="2" type="body"/>
          </p:nvPr>
        </p:nvSpPr>
        <p:spPr>
          <a:xfrm>
            <a:off x="954088" y="1578855"/>
            <a:ext cx="10102800" cy="4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9b025d161b_0_15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b025d161b_0_157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g39b025d161b_0_157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b025d161b_0_157"/>
          <p:cNvSpPr txBox="1"/>
          <p:nvPr>
            <p:ph type="ctrTitle"/>
          </p:nvPr>
        </p:nvSpPr>
        <p:spPr>
          <a:xfrm>
            <a:off x="953359" y="359005"/>
            <a:ext cx="10455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9b025d161b_0_15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b025d161b_0_162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g39b025d161b_0_162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9b025d161b_0_16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4" name="Google Shape;94;g39b025d161b_0_162"/>
          <p:cNvSpPr txBox="1"/>
          <p:nvPr>
            <p:ph type="ctrTitle"/>
          </p:nvPr>
        </p:nvSpPr>
        <p:spPr>
          <a:xfrm>
            <a:off x="953359" y="360637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025d161b_0_167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9b025d161b_0_16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9b025d161b_0_16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b025d161b_0_17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g39b025d161b_0_17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1_內容頁_僅中文標題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025d161b_0_23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39b025d161b_0_23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g39b025d161b_0_23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5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ites.google.com/view/twdrivefromdownload/%E7%B9%81%E9%AB%94%E4%B8%AD%E6%96%87traditional-chinese?authuser=0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brain.trendmicro.com.tw/Competitions/Details/42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%E4%BD%A0%E7%9A%84%E5%B8%B3%E8%99%9F/ml2025f/hw01/" TargetMode="External"/><Relationship Id="rId4" Type="http://schemas.openxmlformats.org/officeDocument/2006/relationships/hyperlink" Target="https://github.com/%E4%BD%A0%E7%9A%84%E5%B8%B3%E8%99%9F/ml2025f/hw01/" TargetMode="External"/><Relationship Id="rId5" Type="http://schemas.openxmlformats.org/officeDocument/2006/relationships/hyperlink" Target="https://github.com/%E4%BD%A0%E7%9A%84%E5%B8%B3%E8%99%9F/ml2025f/hw01/" TargetMode="External"/><Relationship Id="rId6" Type="http://schemas.openxmlformats.org/officeDocument/2006/relationships/hyperlink" Target="https://github.com/%E4%BD%A0%E7%9A%84%E5%B8%B3%E8%99%9F/ml2025f/hw01/" TargetMode="External"/><Relationship Id="rId7" Type="http://schemas.openxmlformats.org/officeDocument/2006/relationships/hyperlink" Target="https://yeh-chun-yu.github.io/ml2025f/hw06/index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hyperlink" Target="mailto:t112598016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 sz="3200"/>
              <a:t>機器學習</a:t>
            </a:r>
            <a:endParaRPr/>
          </a:p>
        </p:txBody>
      </p:sp>
      <p:sp>
        <p:nvSpPr>
          <p:cNvPr id="111" name="Google Shape;111;p6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rPr lang="zh-TW"/>
              <a:t>HW0</a:t>
            </a:r>
            <a:r>
              <a:rPr lang="zh-TW"/>
              <a:t>6 － 主動脈瓣物件偵測(模型推論)</a:t>
            </a:r>
            <a:endParaRPr/>
          </a:p>
        </p:txBody>
      </p:sp>
      <p:sp>
        <p:nvSpPr>
          <p:cNvPr id="112" name="Google Shape;112;p6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教師</a:t>
            </a:r>
            <a:endParaRPr/>
          </a:p>
        </p:txBody>
      </p:sp>
      <p:sp>
        <p:nvSpPr>
          <p:cNvPr id="113" name="Google Shape;113;p6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20" name="Google Shape;120;p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01</a:t>
            </a:r>
            <a:endParaRPr/>
          </a:p>
        </p:txBody>
      </p:sp>
      <p:sp>
        <p:nvSpPr>
          <p:cNvPr id="121" name="Google Shape;121;p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2" name="Google Shape;122;p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28" name="Google Shape;128;p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" name="Google Shape;129;p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評分標準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作業說明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繳交資訊</a:t>
            </a:r>
            <a:endParaRPr/>
          </a:p>
        </p:txBody>
      </p:sp>
      <p:sp>
        <p:nvSpPr>
          <p:cNvPr id="130" name="Google Shape;130;p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910179600_0_4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37" name="Google Shape;137;g27910179600_0_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38" name="Google Shape;138;g27910179600_0_4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58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139" name="Google Shape;139;g27910179600_0_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0" name="Google Shape;140;g27910179600_0_4"/>
          <p:cNvSpPr txBox="1"/>
          <p:nvPr>
            <p:ph idx="3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510a4e5fe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46" name="Google Shape;146;g2f510a4e5fe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7" name="Google Shape;147;g2f510a4e5fe_0_0"/>
          <p:cNvSpPr txBox="1"/>
          <p:nvPr>
            <p:ph idx="2" type="body"/>
          </p:nvPr>
        </p:nvSpPr>
        <p:spPr>
          <a:xfrm>
            <a:off x="947750" y="1556288"/>
            <a:ext cx="10102800" cy="45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Simple baseline (4pt)</a:t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Medium baseline (4pt)</a:t>
            </a:r>
            <a:endParaRPr b="1"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Strong baseline (2pt)</a:t>
            </a:r>
            <a:endParaRPr b="1" sz="2400">
              <a:solidFill>
                <a:srgbClr val="7030A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8" name="Google Shape;148;g2f510a4e5fe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9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作業說明</a:t>
            </a:r>
            <a:endParaRPr/>
          </a:p>
        </p:txBody>
      </p:sp>
      <p:sp>
        <p:nvSpPr>
          <p:cNvPr id="154" name="Google Shape;154;p39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55" name="Google Shape;155;p39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156" name="Google Shape;156;p39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" name="Google Shape;157;p39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025d161b_0_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9b025d161b_0_9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64" name="Google Shape;164;g39b025d161b_0_9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" name="Google Shape;165;g39b025d161b_0_92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根據</a:t>
            </a:r>
            <a:r>
              <a:rPr b="1" lang="zh-TW" sz="2400" u="sng">
                <a:solidFill>
                  <a:srgbClr val="00B050"/>
                </a:solidFill>
              </a:rPr>
              <a:t>課程講義</a:t>
            </a:r>
            <a:r>
              <a:rPr b="1" lang="zh-TW" sz="2400">
                <a:solidFill>
                  <a:srgbClr val="00B050"/>
                </a:solidFill>
              </a:rPr>
              <a:t>中</a:t>
            </a:r>
            <a:r>
              <a:rPr b="1" lang="zh-TW" sz="2400" u="sng">
                <a:solidFill>
                  <a:srgbClr val="00B050"/>
                </a:solidFill>
              </a:rPr>
              <a:t>範例程式碼</a:t>
            </a:r>
            <a:r>
              <a:rPr b="1" lang="zh-TW" sz="2400">
                <a:solidFill>
                  <a:srgbClr val="00B050"/>
                </a:solidFill>
              </a:rPr>
              <a:t>Colab的超連結，前往</a:t>
            </a:r>
            <a:r>
              <a:rPr b="1" lang="zh-TW" sz="2400">
                <a:solidFill>
                  <a:srgbClr val="00B050"/>
                </a:solidFill>
              </a:rPr>
              <a:t>推論</a:t>
            </a:r>
            <a:r>
              <a:rPr b="1" lang="zh-TW" sz="2400">
                <a:solidFill>
                  <a:srgbClr val="00B050"/>
                </a:solidFill>
              </a:rPr>
              <a:t>模型的colab。</a:t>
            </a:r>
            <a:endParaRPr b="1" sz="24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6" name="Google Shape;166;g39b025d161b_0_9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7" name="Google Shape;167;g39b025d161b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650" y="2387350"/>
            <a:ext cx="5902675" cy="332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b025d161b_0_1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9b025d161b_0_10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74" name="Google Shape;174;g39b025d161b_0_10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g39b025d161b_0_101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下載</a:t>
            </a:r>
            <a:r>
              <a:rPr b="1" lang="zh-TW" sz="2400">
                <a:solidFill>
                  <a:srgbClr val="00B050"/>
                </a:solidFill>
              </a:rPr>
              <a:t>資料集(</a:t>
            </a:r>
            <a:r>
              <a:rPr b="1" lang="zh-TW" sz="2400">
                <a:solidFill>
                  <a:schemeClr val="accent3"/>
                </a:solidFill>
              </a:rPr>
              <a:t>測試集</a:t>
            </a:r>
            <a:r>
              <a:rPr b="1" lang="zh-TW" sz="2400">
                <a:solidFill>
                  <a:srgbClr val="00B050"/>
                </a:solidFill>
              </a:rPr>
              <a:t>)到本地端 local 電腦。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6" name="Google Shape;176;g39b025d161b_0_10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7" name="Google Shape;177;g39b025d161b_0_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g39b025d161b_0_101" title="投影片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800" y="2084400"/>
            <a:ext cx="72000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9b025d161b_0_101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b025d161b_0_2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9b025d161b_0_23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86" name="Google Shape;186;g39b025d161b_0_23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7" name="Google Shape;187;g39b025d161b_0_23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chemeClr val="accent3"/>
                </a:solidFill>
              </a:rPr>
              <a:t>上傳</a:t>
            </a:r>
            <a:r>
              <a:rPr b="1" lang="zh-TW" sz="2400">
                <a:solidFill>
                  <a:schemeClr val="accent3"/>
                </a:solidFill>
              </a:rPr>
              <a:t>測試</a:t>
            </a:r>
            <a:r>
              <a:rPr b="1" lang="zh-TW" sz="2400">
                <a:solidFill>
                  <a:schemeClr val="accent3"/>
                </a:solidFill>
              </a:rPr>
              <a:t>集</a:t>
            </a:r>
            <a:r>
              <a:rPr b="1" lang="zh-TW" sz="2400">
                <a:solidFill>
                  <a:srgbClr val="00B050"/>
                </a:solidFill>
              </a:rPr>
              <a:t>壓縮檔</a:t>
            </a:r>
            <a:r>
              <a:rPr b="1" lang="zh-TW" sz="2400">
                <a:solidFill>
                  <a:srgbClr val="00B050"/>
                </a:solidFill>
              </a:rPr>
              <a:t>到 Google Drive中的</a:t>
            </a:r>
            <a:r>
              <a:rPr b="1" lang="zh-TW" sz="2400">
                <a:solidFill>
                  <a:srgbClr val="00B050"/>
                </a:solidFill>
              </a:rPr>
              <a:t>任意位置</a:t>
            </a:r>
            <a:r>
              <a:rPr b="1" lang="zh-TW" sz="2400">
                <a:solidFill>
                  <a:srgbClr val="00B050"/>
                </a:solidFill>
              </a:rPr>
              <a:t>內。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8" name="Google Shape;188;g39b025d161b_0_23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9" name="Google Shape;189;g39b025d161b_0_2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9b025d161b_0_235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g39b025d161b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225" y="2183275"/>
            <a:ext cx="7978551" cy="4183325"/>
          </a:xfrm>
          <a:prstGeom prst="rect">
            <a:avLst/>
          </a:prstGeom>
          <a:noFill/>
          <a:ln cap="flat" cmpd="sng" w="190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b025d161b_0_4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9b025d161b_0_46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98" name="Google Shape;198;g39b025d161b_0_46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9" name="Google Shape;199;g39b025d161b_0_462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chemeClr val="accent3"/>
                </a:solidFill>
              </a:rPr>
              <a:t>更改</a:t>
            </a:r>
            <a:r>
              <a:rPr b="1" lang="zh-TW" sz="2400">
                <a:solidFill>
                  <a:srgbClr val="00B050"/>
                </a:solidFill>
              </a:rPr>
              <a:t>測試集</a:t>
            </a:r>
            <a:r>
              <a:rPr b="1" lang="zh-TW" sz="2400">
                <a:solidFill>
                  <a:schemeClr val="accent3"/>
                </a:solidFill>
              </a:rPr>
              <a:t>權限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0" name="Google Shape;200;g39b025d161b_0_46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1" name="Google Shape;201;g39b025d161b_0_4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b025d161b_0_462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g39b025d161b_0_4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7473" y="3009698"/>
            <a:ext cx="3454501" cy="343422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" name="Google Shape;204;g39b025d161b_0_4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44" y="2467921"/>
            <a:ext cx="8028398" cy="281992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g39b025d161b_0_462"/>
          <p:cNvSpPr/>
          <p:nvPr/>
        </p:nvSpPr>
        <p:spPr>
          <a:xfrm>
            <a:off x="1269794" y="3840308"/>
            <a:ext cx="5053200" cy="234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9b025d161b_0_462"/>
          <p:cNvSpPr/>
          <p:nvPr/>
        </p:nvSpPr>
        <p:spPr>
          <a:xfrm>
            <a:off x="6519569" y="4569133"/>
            <a:ext cx="564900" cy="234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9b025d161b_0_462"/>
          <p:cNvSpPr/>
          <p:nvPr/>
        </p:nvSpPr>
        <p:spPr>
          <a:xfrm>
            <a:off x="8635200" y="5995126"/>
            <a:ext cx="1626900" cy="409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9b025d161b_0_462"/>
          <p:cNvSpPr/>
          <p:nvPr/>
        </p:nvSpPr>
        <p:spPr>
          <a:xfrm>
            <a:off x="10972573" y="5397301"/>
            <a:ext cx="564900" cy="3411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9b025d161b_0_462"/>
          <p:cNvSpPr txBox="1"/>
          <p:nvPr/>
        </p:nvSpPr>
        <p:spPr>
          <a:xfrm>
            <a:off x="2341502" y="4151033"/>
            <a:ext cx="19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選擇檔案</a:t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t/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0" name="Google Shape;210;g39b025d161b_0_462"/>
          <p:cNvSpPr txBox="1"/>
          <p:nvPr/>
        </p:nvSpPr>
        <p:spPr>
          <a:xfrm>
            <a:off x="3862325" y="4432633"/>
            <a:ext cx="265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點選管理存取權</a:t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t/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t/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1" name="Google Shape;211;g39b025d161b_0_462"/>
          <p:cNvSpPr txBox="1"/>
          <p:nvPr/>
        </p:nvSpPr>
        <p:spPr>
          <a:xfrm>
            <a:off x="4950875" y="5945908"/>
            <a:ext cx="371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選取"知道連結的任何人"</a:t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t/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12" name="Google Shape;212;g39b025d161b_0_4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775" y="5945914"/>
            <a:ext cx="625200" cy="84868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9b025d161b_0_462"/>
          <p:cNvSpPr txBox="1"/>
          <p:nvPr/>
        </p:nvSpPr>
        <p:spPr>
          <a:xfrm>
            <a:off x="10578232" y="4804033"/>
            <a:ext cx="107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4.完成</a:t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t/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4" name="Google Shape;214;g39b025d161b_0_462"/>
          <p:cNvSpPr/>
          <p:nvPr/>
        </p:nvSpPr>
        <p:spPr>
          <a:xfrm>
            <a:off x="8923800" y="5644258"/>
            <a:ext cx="1078800" cy="23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b025d161b_0_5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9b025d161b_0_519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21" name="Google Shape;221;g39b025d161b_0_519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2" name="Google Shape;222;g39b025d161b_0_519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chemeClr val="accent3"/>
                </a:solidFill>
              </a:rPr>
              <a:t>取得</a:t>
            </a:r>
            <a:r>
              <a:rPr b="1" lang="zh-TW" sz="2400">
                <a:solidFill>
                  <a:srgbClr val="00B050"/>
                </a:solidFill>
              </a:rPr>
              <a:t>測試集</a:t>
            </a:r>
            <a:r>
              <a:rPr b="1" lang="zh-TW" sz="2400">
                <a:solidFill>
                  <a:schemeClr val="accent3"/>
                </a:solidFill>
              </a:rPr>
              <a:t>連結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3" name="Google Shape;223;g39b025d161b_0_51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4" name="Google Shape;224;g39b025d161b_0_5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9b025d161b_0_519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g39b025d161b_0_5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6339"/>
            <a:ext cx="8028398" cy="281992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g39b025d161b_0_519"/>
          <p:cNvPicPr preferRelativeResize="0"/>
          <p:nvPr/>
        </p:nvPicPr>
        <p:blipFill rotWithShape="1">
          <a:blip r:embed="rId4">
            <a:alphaModFix/>
          </a:blip>
          <a:srcRect b="2893" l="0" r="2771" t="0"/>
          <a:stretch/>
        </p:blipFill>
        <p:spPr>
          <a:xfrm>
            <a:off x="8143801" y="2912550"/>
            <a:ext cx="3658549" cy="3024788"/>
          </a:xfrm>
          <a:prstGeom prst="rect">
            <a:avLst/>
          </a:prstGeom>
          <a:noFill/>
          <a:ln cap="flat" cmpd="sng" w="18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" name="Google Shape;228;g39b025d161b_0_519"/>
          <p:cNvSpPr/>
          <p:nvPr/>
        </p:nvSpPr>
        <p:spPr>
          <a:xfrm>
            <a:off x="8283872" y="5499066"/>
            <a:ext cx="979800" cy="391200"/>
          </a:xfrm>
          <a:prstGeom prst="rect">
            <a:avLst/>
          </a:prstGeom>
          <a:noFill/>
          <a:ln cap="flat" cmpd="sng" w="27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350" lIns="87350" spcFirstLastPara="1" rIns="87350" wrap="square" tIns="87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7"/>
              <a:buFont typeface="Arial"/>
              <a:buNone/>
            </a:pPr>
            <a:r>
              <a:t/>
            </a:r>
            <a:endParaRPr b="0" i="0" sz="13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b025d161b_0_519"/>
          <p:cNvSpPr/>
          <p:nvPr/>
        </p:nvSpPr>
        <p:spPr>
          <a:xfrm>
            <a:off x="6435525" y="4307551"/>
            <a:ext cx="564900" cy="234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9b025d161b_0_519"/>
          <p:cNvSpPr/>
          <p:nvPr/>
        </p:nvSpPr>
        <p:spPr>
          <a:xfrm>
            <a:off x="1185750" y="3578726"/>
            <a:ext cx="5053200" cy="234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9b025d161b_0_519"/>
          <p:cNvSpPr txBox="1"/>
          <p:nvPr/>
        </p:nvSpPr>
        <p:spPr>
          <a:xfrm>
            <a:off x="3938938" y="4171051"/>
            <a:ext cx="2496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2.點選管理存取權</a:t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t/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2" name="Google Shape;232;g39b025d161b_0_519"/>
          <p:cNvSpPr txBox="1"/>
          <p:nvPr/>
        </p:nvSpPr>
        <p:spPr>
          <a:xfrm>
            <a:off x="2257433" y="3889451"/>
            <a:ext cx="16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1.選擇檔案</a:t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Microsoft JhengHei"/>
              <a:buNone/>
            </a:pPr>
            <a:r>
              <a:t/>
            </a:r>
            <a:endParaRPr b="0" i="0" sz="2300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3" name="Google Shape;233;g39b025d161b_0_519"/>
          <p:cNvSpPr txBox="1"/>
          <p:nvPr/>
        </p:nvSpPr>
        <p:spPr>
          <a:xfrm>
            <a:off x="6646575" y="5452051"/>
            <a:ext cx="1598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36"/>
              <a:buFont typeface="Microsoft JhengHei"/>
              <a:buNone/>
            </a:pPr>
            <a:r>
              <a:rPr b="0" i="0" lang="zh-TW" sz="2236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3.複製連結</a:t>
            </a:r>
            <a:endParaRPr b="0" i="0" sz="2236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98"/>
              <a:buFont typeface="Microsoft JhengHei"/>
              <a:buNone/>
            </a:pPr>
            <a:r>
              <a:t/>
            </a:r>
            <a:endParaRPr b="0" i="0" sz="2197" u="none" cap="none" strike="noStrike">
              <a:solidFill>
                <a:schemeClr val="accent3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b025d161b_0_5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9b025d161b_0_538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40" name="Google Shape;240;g39b025d161b_0_53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1" name="Google Shape;241;g39b025d161b_0_538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lang="zh-TW" sz="2300">
                <a:solidFill>
                  <a:schemeClr val="accent2"/>
                </a:solidFill>
              </a:rPr>
              <a:t>透過下方網站轉換成直接下載的格式 轉換網站 : </a:t>
            </a:r>
            <a:endParaRPr sz="2300">
              <a:solidFill>
                <a:schemeClr val="accent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https://sites.google.com/view/twdrivefromdownload/%E7%B9%81%E9%AB%94%E4%B8%AD%E6%96%87traditional-chinese?authuser=0</a:t>
            </a:r>
            <a:endParaRPr sz="1800">
              <a:solidFill>
                <a:schemeClr val="accent2"/>
              </a:solidFill>
            </a:endParaRPr>
          </a:p>
          <a:p>
            <a:pPr indent="0" lvl="0" marL="2286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2" name="Google Shape;242;g39b025d161b_0_53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3" name="Google Shape;243;g39b025d161b_0_5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9b025d161b_0_538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g39b025d161b_0_5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6575" y="2684374"/>
            <a:ext cx="7117851" cy="36221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46" name="Google Shape;246;g39b025d161b_0_538"/>
          <p:cNvGrpSpPr/>
          <p:nvPr/>
        </p:nvGrpSpPr>
        <p:grpSpPr>
          <a:xfrm>
            <a:off x="3004049" y="4760500"/>
            <a:ext cx="4211676" cy="1389400"/>
            <a:chOff x="2566174" y="4409625"/>
            <a:chExt cx="4211676" cy="1389400"/>
          </a:xfrm>
        </p:grpSpPr>
        <p:sp>
          <p:nvSpPr>
            <p:cNvPr id="247" name="Google Shape;247;g39b025d161b_0_538"/>
            <p:cNvSpPr/>
            <p:nvPr/>
          </p:nvSpPr>
          <p:spPr>
            <a:xfrm>
              <a:off x="4164550" y="5476235"/>
              <a:ext cx="2613300" cy="1380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9b025d161b_0_538"/>
            <p:cNvSpPr txBox="1"/>
            <p:nvPr/>
          </p:nvSpPr>
          <p:spPr>
            <a:xfrm>
              <a:off x="2566174" y="4409625"/>
              <a:ext cx="15981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00"/>
                <a:buFont typeface="Microsoft JhengHei"/>
                <a:buNone/>
              </a:pPr>
              <a:r>
                <a:rPr b="0" i="0" lang="zh-TW" sz="2300" u="none" cap="none" strike="noStrike">
                  <a:solidFill>
                    <a:schemeClr val="accent3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1.貼上網址</a:t>
              </a:r>
              <a:endParaRPr b="0" i="0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49" name="Google Shape;249;g39b025d161b_0_538"/>
            <p:cNvSpPr txBox="1"/>
            <p:nvPr/>
          </p:nvSpPr>
          <p:spPr>
            <a:xfrm>
              <a:off x="2984849" y="4836500"/>
              <a:ext cx="1179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00"/>
                <a:buFont typeface="Microsoft JhengHei"/>
                <a:buNone/>
              </a:pPr>
              <a:r>
                <a:rPr b="0" i="0" lang="zh-TW" sz="2300" u="none" cap="none" strike="noStrike">
                  <a:solidFill>
                    <a:schemeClr val="accent3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2.點選</a:t>
              </a:r>
              <a:endParaRPr b="0" i="0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250" name="Google Shape;250;g39b025d161b_0_538"/>
            <p:cNvSpPr txBox="1"/>
            <p:nvPr/>
          </p:nvSpPr>
          <p:spPr>
            <a:xfrm>
              <a:off x="3108150" y="5291125"/>
              <a:ext cx="10563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00"/>
                <a:buFont typeface="Microsoft JhengHei"/>
                <a:buNone/>
              </a:pPr>
              <a:r>
                <a:rPr b="0" i="0" lang="zh-TW" sz="2300" u="none" cap="none" strike="noStrike">
                  <a:solidFill>
                    <a:schemeClr val="accent3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3.複製</a:t>
              </a:r>
              <a:endParaRPr b="0" i="0" sz="2300" u="none" cap="none" strike="noStrike">
                <a:solidFill>
                  <a:schemeClr val="accent3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b025d161b_0_3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9b025d161b_0_32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57" name="Google Shape;257;g39b025d161b_0_32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8" name="Google Shape;258;g39b025d161b_0_320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替換 Colab 資料集連結</a:t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9" name="Google Shape;259;g39b025d161b_0_32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0" name="Google Shape;260;g39b025d161b_0_3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91" y="3209436"/>
            <a:ext cx="11887200" cy="2498169"/>
          </a:xfrm>
          <a:prstGeom prst="rect">
            <a:avLst/>
          </a:prstGeom>
          <a:noFill/>
          <a:ln cap="flat" cmpd="sng" w="1905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1" name="Google Shape;261;g39b025d161b_0_320"/>
          <p:cNvSpPr/>
          <p:nvPr/>
        </p:nvSpPr>
        <p:spPr>
          <a:xfrm>
            <a:off x="2125425" y="5131525"/>
            <a:ext cx="6929100" cy="234900"/>
          </a:xfrm>
          <a:prstGeom prst="rect">
            <a:avLst/>
          </a:prstGeom>
          <a:noFill/>
          <a:ln cap="flat" cmpd="sng" w="38100">
            <a:solidFill>
              <a:srgbClr val="ED2C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b025d161b_0_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9b025d161b_0_279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68" name="Google Shape;268;g39b025d161b_0_279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9" name="Google Shape;269;g39b025d161b_0_279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 </a:t>
            </a:r>
            <a:r>
              <a:rPr b="1" lang="zh-TW" sz="2400">
                <a:solidFill>
                  <a:schemeClr val="accent3"/>
                </a:solidFill>
              </a:rPr>
              <a:t>best.pt </a:t>
            </a:r>
            <a:r>
              <a:rPr b="1" lang="zh-TW" sz="2400">
                <a:solidFill>
                  <a:srgbClr val="FF0000"/>
                </a:solidFill>
              </a:rPr>
              <a:t>權重檔(作業</a:t>
            </a:r>
            <a:r>
              <a:rPr b="1" lang="zh-TW" sz="2400">
                <a:solidFill>
                  <a:srgbClr val="FF0000"/>
                </a:solidFill>
              </a:rPr>
              <a:t>5</a:t>
            </a:r>
            <a:r>
              <a:rPr b="1" lang="zh-TW" sz="2400">
                <a:solidFill>
                  <a:srgbClr val="FF0000"/>
                </a:solidFill>
              </a:rPr>
              <a:t> simple baseline)</a:t>
            </a:r>
            <a:r>
              <a:rPr b="1" lang="zh-TW" sz="2400">
                <a:solidFill>
                  <a:srgbClr val="00B050"/>
                </a:solidFill>
              </a:rPr>
              <a:t>上傳到</a:t>
            </a:r>
            <a:r>
              <a:rPr b="1" lang="zh-TW" sz="2400">
                <a:solidFill>
                  <a:srgbClr val="FF0000"/>
                </a:solidFill>
              </a:rPr>
              <a:t>推論Colab</a:t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0" name="Google Shape;270;g39b025d161b_0_27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71" name="Google Shape;271;g39b025d161b_0_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350" y="2242523"/>
            <a:ext cx="5713299" cy="3892200"/>
          </a:xfrm>
          <a:prstGeom prst="rect">
            <a:avLst/>
          </a:prstGeom>
          <a:noFill/>
          <a:ln cap="flat" cmpd="sng" w="1905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b025d161b_0_6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9b025d161b_0_61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78" name="Google Shape;278;g39b025d161b_0_61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9" name="Google Shape;279;g39b025d161b_0_614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依序跑完</a:t>
            </a:r>
            <a:r>
              <a:rPr b="1" lang="zh-TW" sz="2400">
                <a:solidFill>
                  <a:srgbClr val="00B050"/>
                </a:solidFill>
              </a:rPr>
              <a:t>推論Colab</a:t>
            </a:r>
            <a:r>
              <a:rPr b="1" lang="zh-TW" sz="2400">
                <a:solidFill>
                  <a:srgbClr val="00B050"/>
                </a:solidFill>
              </a:rPr>
              <a:t>取得 </a:t>
            </a:r>
            <a:r>
              <a:rPr b="1" lang="zh-TW" sz="2400">
                <a:solidFill>
                  <a:srgbClr val="FF0000"/>
                </a:solidFill>
              </a:rPr>
              <a:t>merged.txt </a:t>
            </a:r>
            <a:r>
              <a:rPr b="1" lang="zh-TW" sz="2400">
                <a:solidFill>
                  <a:srgbClr val="00B050"/>
                </a:solidFill>
              </a:rPr>
              <a:t>並</a:t>
            </a:r>
            <a:r>
              <a:rPr b="1" lang="zh-TW" sz="2400">
                <a:solidFill>
                  <a:srgbClr val="FF0000"/>
                </a:solidFill>
              </a:rPr>
              <a:t>下載</a:t>
            </a:r>
            <a:r>
              <a:rPr b="1" lang="zh-TW" sz="2400">
                <a:solidFill>
                  <a:srgbClr val="00B050"/>
                </a:solidFill>
              </a:rPr>
              <a:t>至</a:t>
            </a:r>
            <a:r>
              <a:rPr b="1" lang="zh-TW" sz="2400">
                <a:solidFill>
                  <a:srgbClr val="00B050"/>
                </a:solidFill>
              </a:rPr>
              <a:t>本地端 local 電腦</a:t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0" name="Google Shape;280;g39b025d161b_0_61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81" name="Google Shape;281;g39b025d161b_0_6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2414473"/>
            <a:ext cx="3162300" cy="3419475"/>
          </a:xfrm>
          <a:prstGeom prst="rect">
            <a:avLst/>
          </a:prstGeom>
          <a:noFill/>
          <a:ln cap="flat" cmpd="sng" w="1905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2" name="Google Shape;282;g39b025d161b_0_6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4846" y="2414463"/>
            <a:ext cx="7992029" cy="3419475"/>
          </a:xfrm>
          <a:prstGeom prst="rect">
            <a:avLst/>
          </a:prstGeom>
          <a:noFill/>
          <a:ln cap="flat" cmpd="sng" w="1905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b025d161b_0_6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9b025d161b_0_62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89" name="Google Shape;289;g39b025d161b_0_62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0" name="Google Shape;290;g39b025d161b_0_62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到</a:t>
            </a:r>
            <a:r>
              <a:rPr b="1" lang="zh-TW" sz="2400" u="sng">
                <a:solidFill>
                  <a:schemeClr val="hlink"/>
                </a:solidFill>
                <a:hlinkClick r:id="rId3"/>
              </a:rPr>
              <a:t>競賽網站</a:t>
            </a:r>
            <a:r>
              <a:rPr b="1" lang="zh-TW" sz="2400">
                <a:solidFill>
                  <a:srgbClr val="00B050"/>
                </a:solidFill>
              </a:rPr>
              <a:t>繳交</a:t>
            </a:r>
            <a:r>
              <a:rPr b="1" lang="zh-TW" sz="2400">
                <a:solidFill>
                  <a:srgbClr val="00B050"/>
                </a:solidFill>
              </a:rPr>
              <a:t> </a:t>
            </a:r>
            <a:r>
              <a:rPr b="1" lang="zh-TW" sz="2400">
                <a:solidFill>
                  <a:srgbClr val="FF0000"/>
                </a:solidFill>
              </a:rPr>
              <a:t>merged.txt</a:t>
            </a:r>
            <a:endParaRPr b="1" sz="2400">
              <a:solidFill>
                <a:srgbClr val="00B05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檔案說明請註明</a:t>
            </a:r>
            <a:r>
              <a:rPr b="1" lang="zh-TW" sz="2400">
                <a:solidFill>
                  <a:srgbClr val="FF0000"/>
                </a:solidFill>
              </a:rPr>
              <a:t>機器學習HW</a:t>
            </a:r>
            <a:r>
              <a:rPr b="1" lang="zh-TW" sz="2400">
                <a:solidFill>
                  <a:srgbClr val="FF0000"/>
                </a:solidFill>
              </a:rPr>
              <a:t>6</a:t>
            </a:r>
            <a:r>
              <a:rPr b="1" lang="zh-TW" sz="2400">
                <a:solidFill>
                  <a:srgbClr val="FF0000"/>
                </a:solidFill>
              </a:rPr>
              <a:t>_</a:t>
            </a:r>
            <a:r>
              <a:rPr b="1" lang="zh-TW" sz="2400">
                <a:solidFill>
                  <a:srgbClr val="FF0000"/>
                </a:solidFill>
              </a:rPr>
              <a:t>Simple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91" name="Google Shape;291;g39b025d161b_0_62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92" name="Google Shape;292;g39b025d161b_0_6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900" y="1507416"/>
            <a:ext cx="5132175" cy="6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9b025d161b_0_625"/>
          <p:cNvSpPr/>
          <p:nvPr/>
        </p:nvSpPr>
        <p:spPr>
          <a:xfrm>
            <a:off x="9313425" y="1642350"/>
            <a:ext cx="899700" cy="374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g39b025d161b_0_6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7750" y="3511550"/>
            <a:ext cx="10553700" cy="1495425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b025d161b_0_6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9b025d161b_0_667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FF0000"/>
                </a:solidFill>
              </a:rPr>
              <a:t>Medium baseline (4pt)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01" name="Google Shape;301;g39b025d161b_0_66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02" name="Google Shape;302;g39b025d161b_0_667"/>
          <p:cNvSpPr txBox="1"/>
          <p:nvPr>
            <p:ph idx="2" type="body"/>
          </p:nvPr>
        </p:nvSpPr>
        <p:spPr>
          <a:xfrm>
            <a:off x="954100" y="1560575"/>
            <a:ext cx="101028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使用權重檔(作業</a:t>
            </a:r>
            <a:r>
              <a:rPr b="1" lang="zh-TW" sz="2400">
                <a:solidFill>
                  <a:srgbClr val="FF0000"/>
                </a:solidFill>
              </a:rPr>
              <a:t>5</a:t>
            </a:r>
            <a:r>
              <a:rPr b="1" lang="zh-TW" sz="2400">
                <a:solidFill>
                  <a:srgbClr val="FF0000"/>
                </a:solidFill>
              </a:rPr>
              <a:t> Medium baseline)進行推論。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到競賽網站繳交</a:t>
            </a:r>
            <a:r>
              <a:rPr b="1" lang="zh-TW" sz="2400">
                <a:solidFill>
                  <a:srgbClr val="FF0000"/>
                </a:solidFill>
              </a:rPr>
              <a:t> </a:t>
            </a:r>
            <a:r>
              <a:rPr b="1" lang="zh-TW" sz="2400">
                <a:solidFill>
                  <a:srgbClr val="FF0000"/>
                </a:solidFill>
              </a:rPr>
              <a:t>merged.txt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檔案說明請註明機器學習HW</a:t>
            </a:r>
            <a:r>
              <a:rPr b="1" lang="zh-TW" sz="2400">
                <a:solidFill>
                  <a:srgbClr val="FF0000"/>
                </a:solidFill>
              </a:rPr>
              <a:t>6</a:t>
            </a:r>
            <a:r>
              <a:rPr b="1" lang="zh-TW" sz="2400">
                <a:solidFill>
                  <a:srgbClr val="FF0000"/>
                </a:solidFill>
              </a:rPr>
              <a:t> Medium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303" name="Google Shape;303;g39b025d161b_0_66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04" name="Google Shape;304;g39b025d161b_0_667" title="Medi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3547075"/>
            <a:ext cx="10553700" cy="1485900"/>
          </a:xfrm>
          <a:prstGeom prst="rect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b025d161b_0_7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9b025d161b_0_707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7030A0"/>
                </a:solidFill>
              </a:rPr>
              <a:t>Strong baseline (2pt)</a:t>
            </a:r>
            <a:endParaRPr/>
          </a:p>
        </p:txBody>
      </p:sp>
      <p:sp>
        <p:nvSpPr>
          <p:cNvPr id="311" name="Google Shape;311;g39b025d161b_0_70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2" name="Google Shape;312;g39b025d161b_0_70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3" name="Google Shape;313;g39b025d161b_0_707"/>
          <p:cNvSpPr txBox="1"/>
          <p:nvPr>
            <p:ph idx="2" type="body"/>
          </p:nvPr>
        </p:nvSpPr>
        <p:spPr>
          <a:xfrm>
            <a:off x="954100" y="1560575"/>
            <a:ext cx="101028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使用訓練出來的</a:t>
            </a:r>
            <a:r>
              <a:rPr b="1" lang="zh-TW" sz="2400">
                <a:solidFill>
                  <a:srgbClr val="7030A0"/>
                </a:solidFill>
              </a:rPr>
              <a:t>任意</a:t>
            </a:r>
            <a:r>
              <a:rPr b="1" lang="zh-TW" sz="2400">
                <a:solidFill>
                  <a:srgbClr val="7030A0"/>
                </a:solidFill>
              </a:rPr>
              <a:t>權重檔</a:t>
            </a:r>
            <a:r>
              <a:rPr b="1" lang="zh-TW" sz="2400">
                <a:solidFill>
                  <a:srgbClr val="7030A0"/>
                </a:solidFill>
              </a:rPr>
              <a:t>進行</a:t>
            </a:r>
            <a:r>
              <a:rPr b="1" lang="zh-TW" sz="2400">
                <a:solidFill>
                  <a:srgbClr val="7030A0"/>
                </a:solidFill>
              </a:rPr>
              <a:t>推論。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到競賽網站繳交 merged.txt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檔案說明請註明機器學習HW6 </a:t>
            </a:r>
            <a:r>
              <a:rPr b="1" lang="zh-TW" sz="2400">
                <a:solidFill>
                  <a:srgbClr val="7030A0"/>
                </a:solidFill>
              </a:rPr>
              <a:t>Strong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提交分數必須得到比 </a:t>
            </a:r>
            <a:r>
              <a:rPr b="1" lang="zh-TW" sz="2400">
                <a:solidFill>
                  <a:srgbClr val="00B050"/>
                </a:solidFill>
              </a:rPr>
              <a:t>Simple baseline</a:t>
            </a:r>
            <a:r>
              <a:rPr b="1" lang="zh-TW" sz="2400">
                <a:solidFill>
                  <a:srgbClr val="7030A0"/>
                </a:solidFill>
              </a:rPr>
              <a:t> 分數(</a:t>
            </a:r>
            <a:r>
              <a:rPr b="1" lang="zh-TW" sz="2400">
                <a:solidFill>
                  <a:srgbClr val="00B050"/>
                </a:solidFill>
              </a:rPr>
              <a:t>0.935344</a:t>
            </a:r>
            <a:r>
              <a:rPr b="1" lang="zh-TW" sz="2400">
                <a:solidFill>
                  <a:srgbClr val="7030A0"/>
                </a:solidFill>
              </a:rPr>
              <a:t>)還要高</a:t>
            </a:r>
            <a:endParaRPr b="1" sz="2400">
              <a:solidFill>
                <a:srgbClr val="7030A0"/>
              </a:solidFill>
            </a:endParaRPr>
          </a:p>
        </p:txBody>
      </p:sp>
      <p:pic>
        <p:nvPicPr>
          <p:cNvPr id="314" name="Google Shape;314;g39b025d161b_0_7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88" y="4202825"/>
            <a:ext cx="10563225" cy="150495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繳交資訊</a:t>
            </a:r>
            <a:endParaRPr/>
          </a:p>
        </p:txBody>
      </p:sp>
      <p:sp>
        <p:nvSpPr>
          <p:cNvPr id="320" name="Google Shape;320;p43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章節06</a:t>
            </a:r>
            <a:endParaRPr/>
          </a:p>
        </p:txBody>
      </p:sp>
      <p:sp>
        <p:nvSpPr>
          <p:cNvPr id="321" name="Google Shape;321;p43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322" name="Google Shape;322;p4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3" name="Google Shape;323;p43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311f23a0b7_0_52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作業上傳</a:t>
            </a:r>
            <a:endParaRPr/>
          </a:p>
        </p:txBody>
      </p:sp>
      <p:sp>
        <p:nvSpPr>
          <p:cNvPr id="329" name="Google Shape;329;g3311f23a0b7_0_52"/>
          <p:cNvSpPr txBox="1"/>
          <p:nvPr>
            <p:ph idx="1" type="body"/>
          </p:nvPr>
        </p:nvSpPr>
        <p:spPr>
          <a:xfrm>
            <a:off x="1656376" y="8276495"/>
            <a:ext cx="1382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6096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0" name="Google Shape;330;g3311f23a0b7_0_52"/>
          <p:cNvSpPr txBox="1"/>
          <p:nvPr>
            <p:ph idx="12" type="sldNum"/>
          </p:nvPr>
        </p:nvSpPr>
        <p:spPr>
          <a:xfrm>
            <a:off x="903340" y="8261561"/>
            <a:ext cx="753300" cy="31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1" name="Google Shape;331;g3311f23a0b7_0_52"/>
          <p:cNvSpPr txBox="1"/>
          <p:nvPr/>
        </p:nvSpPr>
        <p:spPr>
          <a:xfrm>
            <a:off x="903340" y="1362975"/>
            <a:ext cx="10902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上傳至 </a:t>
            </a:r>
            <a:r>
              <a:rPr b="0" i="0" lang="zh-TW" sz="24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https://github.com/你的帳號/ml2025f/hw</a:t>
            </a:r>
            <a:r>
              <a:rPr b="0" i="0" lang="zh-TW" sz="2400" u="sng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lang="zh-TW" sz="2400" u="sng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</a:t>
            </a:r>
            <a:r>
              <a:rPr b="0" i="0" lang="zh-TW" sz="24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繳交範例，請見 </a:t>
            </a:r>
            <a:r>
              <a:rPr lang="zh-TW" sz="24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7"/>
              </a:rPr>
              <a:t>https://yeh-chun-yu.github.io/ml2025f/hw06/index.html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08cba9ff31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Regulations</a:t>
            </a:r>
            <a:endParaRPr/>
          </a:p>
        </p:txBody>
      </p:sp>
      <p:sp>
        <p:nvSpPr>
          <p:cNvPr id="338" name="Google Shape;338;g208cba9ff31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39" name="Google Shape;339;g208cba9ff31_1_0"/>
          <p:cNvSpPr txBox="1"/>
          <p:nvPr>
            <p:ph idx="2" type="body"/>
          </p:nvPr>
        </p:nvSpPr>
        <p:spPr>
          <a:xfrm>
            <a:off x="954088" y="1618596"/>
            <a:ext cx="10442918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 should finish your homework on your own.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Do not share your codes with any living creatures.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Your HW will get 0 pt if you violate any of the above rules.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Professor &amp; TAs preserve the rights to change the rules &amp; grades.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40" name="Google Shape;340;g208cba9ff31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346" name="Google Shape;346;p6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章節07</a:t>
            </a:r>
            <a:endParaRPr/>
          </a:p>
        </p:txBody>
      </p:sp>
      <p:sp>
        <p:nvSpPr>
          <p:cNvPr id="347" name="Google Shape;347;p6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348" name="Google Shape;348;p6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9" name="Google Shape;349;p6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08cba9ff31_2_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356" name="Google Shape;356;g208cba9ff31_2_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57" name="Google Shape;357;g208cba9ff31_2_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TA Email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胡凱翔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t114598018@ntut.org.tw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Email 標題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 : [-hw0X-學號]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例如：-hw01-114598001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8" name="Google Shape;358;g208cba9ff31_2_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2021-11-03T01:57:43Z</dcterms:created>
  <dc:creator>Microsoft Office User</dc:creator>
</cp:coreProperties>
</file>