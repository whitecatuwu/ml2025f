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  <p:sldMasterId id="2147483656" r:id="rId6"/>
    <p:sldMasterId id="214748366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y="6858000" cx="12192000"/>
  <p:notesSz cx="6858000" cy="9144000"/>
  <p:embeddedFontLst>
    <p:embeddedFont>
      <p:font typeface="Mulish ExtraLight"/>
      <p:regular r:id="rId29"/>
      <p:bold r:id="rId30"/>
      <p:italic r:id="rId31"/>
      <p:boldItalic r:id="rId32"/>
    </p:embeddedFont>
    <p:embeddedFont>
      <p:font typeface="Mulish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9">
          <p15:clr>
            <a:srgbClr val="A4A3A4"/>
          </p15:clr>
        </p15:guide>
        <p15:guide id="2" pos="597">
          <p15:clr>
            <a:srgbClr val="A4A3A4"/>
          </p15:clr>
        </p15:guide>
        <p15:guide id="3" pos="6947">
          <p15:clr>
            <a:srgbClr val="A4A3A4"/>
          </p15:clr>
        </p15:guide>
        <p15:guide id="4" orient="horz" pos="3589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jLQ33pFp31rh8He8tGC2J8KeJi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9" orient="horz"/>
        <p:guide pos="597"/>
        <p:guide pos="6947"/>
        <p:guide pos="35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MulishExtraLight-regular.fnt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MulishExtraLight-italic.fntdata"/><Relationship Id="rId30" Type="http://schemas.openxmlformats.org/officeDocument/2006/relationships/font" Target="fonts/MulishExtraLight-bold.fntdata"/><Relationship Id="rId11" Type="http://schemas.openxmlformats.org/officeDocument/2006/relationships/slide" Target="slides/slide3.xml"/><Relationship Id="rId33" Type="http://schemas.openxmlformats.org/officeDocument/2006/relationships/font" Target="fonts/Mulish-regular.fntdata"/><Relationship Id="rId10" Type="http://schemas.openxmlformats.org/officeDocument/2006/relationships/slide" Target="slides/slide2.xml"/><Relationship Id="rId32" Type="http://schemas.openxmlformats.org/officeDocument/2006/relationships/font" Target="fonts/MulishExtraLight-boldItalic.fntdata"/><Relationship Id="rId13" Type="http://schemas.openxmlformats.org/officeDocument/2006/relationships/slide" Target="slides/slide5.xml"/><Relationship Id="rId35" Type="http://schemas.openxmlformats.org/officeDocument/2006/relationships/font" Target="fonts/Mulish-italic.fntdata"/><Relationship Id="rId12" Type="http://schemas.openxmlformats.org/officeDocument/2006/relationships/slide" Target="slides/slide4.xml"/><Relationship Id="rId34" Type="http://schemas.openxmlformats.org/officeDocument/2006/relationships/font" Target="fonts/Mulish-bold.fntdata"/><Relationship Id="rId15" Type="http://schemas.openxmlformats.org/officeDocument/2006/relationships/slide" Target="slides/slide7.xml"/><Relationship Id="rId37" Type="http://customschemas.google.com/relationships/presentationmetadata" Target="metadata"/><Relationship Id="rId14" Type="http://schemas.openxmlformats.org/officeDocument/2006/relationships/slide" Target="slides/slide6.xml"/><Relationship Id="rId36" Type="http://schemas.openxmlformats.org/officeDocument/2006/relationships/font" Target="fonts/Mulish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1017960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2791017960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2791017960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f510a4e5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2f510a4e5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ac8eb8f4b_1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9ac8eb8f4b_1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c8eb8f4b_1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9ac8eb8f4b_1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ac8eb8f4b_1_1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9ac8eb8f4b_1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ac8eb8f4b_1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9ac8eb8f4b_1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ac8eb8f4b_1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9ac8eb8f4b_1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ac8eb8f4b_1_2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ac8eb8f4b_1_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ac8eb8f4b_1_2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ac8eb8f4b_1_3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9ac8eb8f4b_1_3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afce98e5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9afce98e5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afce98e5a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9afce98e5a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11f23a0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g3311f23a0b7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08cba9ff3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208cba9ff3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208cba9ff3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08cba9ff31_2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208cba9ff31_2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208cba9ff31_2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英標題">
  <p:cSld name="首頁_中英標題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中文標題">
  <p:cSld name="首頁_中文標題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967109" y="2141506"/>
            <a:ext cx="6356480" cy="188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7"/>
          <p:cNvSpPr txBox="1"/>
          <p:nvPr>
            <p:ph idx="1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2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首頁_英文標題">
  <p:cSld name="首頁_英文標題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967109" y="2162200"/>
            <a:ext cx="6356480" cy="1858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1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英標題">
  <p:cSld name="章節N_中英標題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1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3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9" name="Google Shape;29;p31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中文標題">
  <p:cSld name="章節N_中文標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2" name="Google Shape;32;p67"/>
          <p:cNvSpPr txBox="1"/>
          <p:nvPr>
            <p:ph type="ctrTitle"/>
          </p:nvPr>
        </p:nvSpPr>
        <p:spPr>
          <a:xfrm>
            <a:off x="966788" y="2241418"/>
            <a:ext cx="635648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67"/>
          <p:cNvSpPr txBox="1"/>
          <p:nvPr>
            <p:ph idx="1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67"/>
          <p:cNvSpPr txBox="1"/>
          <p:nvPr>
            <p:ph idx="2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N_英文標題">
  <p:cSld name="章節N_英文標題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8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7" name="Google Shape;37;p68"/>
          <p:cNvSpPr txBox="1"/>
          <p:nvPr>
            <p:ph idx="1" type="body"/>
          </p:nvPr>
        </p:nvSpPr>
        <p:spPr>
          <a:xfrm>
            <a:off x="967109" y="2246089"/>
            <a:ext cx="6356480" cy="25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68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Arial"/>
              <a:buNone/>
              <a:defRPr b="0" i="0" sz="5800" u="none" cap="none" strike="noStrike">
                <a:solidFill>
                  <a:schemeClr val="lt1"/>
                </a:solidFill>
                <a:latin typeface="Mulish ExtraLight"/>
                <a:ea typeface="Mulish ExtraLight"/>
                <a:cs typeface="Mulish ExtraLight"/>
                <a:sym typeface="Mulish Extra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8"/>
          <p:cNvSpPr txBox="1"/>
          <p:nvPr>
            <p:ph idx="3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/>
          <p:nvPr>
            <p:ph idx="2" type="pic"/>
          </p:nvPr>
        </p:nvSpPr>
        <p:spPr>
          <a:xfrm>
            <a:off x="0" y="0"/>
            <a:ext cx="12003519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2" type="body"/>
          </p:nvPr>
        </p:nvSpPr>
        <p:spPr>
          <a:xfrm>
            <a:off x="954088" y="1578855"/>
            <a:ext cx="10102795" cy="413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4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4"/>
          <p:cNvSpPr txBox="1"/>
          <p:nvPr>
            <p:ph type="ctrTitle"/>
          </p:nvPr>
        </p:nvSpPr>
        <p:spPr>
          <a:xfrm>
            <a:off x="953359" y="359005"/>
            <a:ext cx="10455376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/>
          <p:nvPr>
            <p:ph idx="2" type="pic"/>
          </p:nvPr>
        </p:nvSpPr>
        <p:spPr>
          <a:xfrm>
            <a:off x="0" y="1189317"/>
            <a:ext cx="12002400" cy="5668682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5"/>
          <p:cNvSpPr/>
          <p:nvPr/>
        </p:nvSpPr>
        <p:spPr>
          <a:xfrm>
            <a:off x="1" y="0"/>
            <a:ext cx="11997202" cy="118931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3" name="Google Shape;63;p25"/>
          <p:cNvSpPr txBox="1"/>
          <p:nvPr>
            <p:ph type="ctrTitle"/>
          </p:nvPr>
        </p:nvSpPr>
        <p:spPr>
          <a:xfrm>
            <a:off x="953359" y="360637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ctrTitle"/>
          </p:nvPr>
        </p:nvSpPr>
        <p:spPr>
          <a:xfrm>
            <a:off x="953359" y="728685"/>
            <a:ext cx="8830033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7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中文標題＋文字">
  <p:cSld name="內容頁_中文標題＋文字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ac8eb8f4b_1_384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  <a:defRPr b="1" i="0" sz="4300" u="none" cap="none" strike="noStrike">
                <a:solidFill>
                  <a:schemeClr val="accent2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g39ac8eb8f4b_1_38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9ac8eb8f4b_1_384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g39ac8eb8f4b_1_38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">
  <p:cSld name="內容頁_滿版圖片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c8eb8f4b_1_389"/>
          <p:cNvSpPr/>
          <p:nvPr>
            <p:ph idx="2" type="pic"/>
          </p:nvPr>
        </p:nvSpPr>
        <p:spPr>
          <a:xfrm>
            <a:off x="0" y="0"/>
            <a:ext cx="12003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g39ac8eb8f4b_1_389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英文標題＋文字">
  <p:cSld name="內容頁_英文標題＋文字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c8eb8f4b_1_392"/>
          <p:cNvSpPr txBox="1"/>
          <p:nvPr>
            <p:ph type="ctrTitle"/>
          </p:nvPr>
        </p:nvSpPr>
        <p:spPr>
          <a:xfrm>
            <a:off x="953359" y="728685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9ac8eb8f4b_1_39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9ac8eb8f4b_1_392"/>
          <p:cNvSpPr txBox="1"/>
          <p:nvPr>
            <p:ph idx="2" type="body"/>
          </p:nvPr>
        </p:nvSpPr>
        <p:spPr>
          <a:xfrm>
            <a:off x="954088" y="1578855"/>
            <a:ext cx="10102800" cy="4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9ac8eb8f4b_1_39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滿版圖片＋中文標題">
  <p:cSld name="內容頁_滿版圖片＋中文標題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c8eb8f4b_1_397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g39ac8eb8f4b_1_397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9ac8eb8f4b_1_397"/>
          <p:cNvSpPr txBox="1"/>
          <p:nvPr>
            <p:ph type="ctrTitle"/>
          </p:nvPr>
        </p:nvSpPr>
        <p:spPr>
          <a:xfrm>
            <a:off x="953359" y="359005"/>
            <a:ext cx="10455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icrosoft JhengHei"/>
              <a:buNone/>
              <a:defRPr b="1" i="0" sz="36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9ac8eb8f4b_1_39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內容頁_滿版圖片＋英文標題">
  <p:cSld name="1_內容頁_滿版圖片＋英文標題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c8eb8f4b_1_402"/>
          <p:cNvSpPr/>
          <p:nvPr>
            <p:ph idx="2" type="pic"/>
          </p:nvPr>
        </p:nvSpPr>
        <p:spPr>
          <a:xfrm>
            <a:off x="0" y="1189317"/>
            <a:ext cx="12002400" cy="56688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g39ac8eb8f4b_1_402"/>
          <p:cNvSpPr/>
          <p:nvPr/>
        </p:nvSpPr>
        <p:spPr>
          <a:xfrm>
            <a:off x="1" y="0"/>
            <a:ext cx="11997300" cy="118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9ac8eb8f4b_1_40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4" name="Google Shape;94;g39ac8eb8f4b_1_402"/>
          <p:cNvSpPr txBox="1"/>
          <p:nvPr>
            <p:ph type="ctrTitle"/>
          </p:nvPr>
        </p:nvSpPr>
        <p:spPr>
          <a:xfrm>
            <a:off x="953359" y="360637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lt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僅英文標題">
  <p:cSld name="內容頁_僅英文標題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ac8eb8f4b_1_407"/>
          <p:cNvSpPr txBox="1"/>
          <p:nvPr>
            <p:ph type="ctrTitle"/>
          </p:nvPr>
        </p:nvSpPr>
        <p:spPr>
          <a:xfrm>
            <a:off x="953359" y="728685"/>
            <a:ext cx="8829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Mulish"/>
              <a:buNone/>
              <a:defRPr b="1" i="0" sz="3400" u="none" cap="none" strike="noStrike">
                <a:solidFill>
                  <a:schemeClr val="accent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9ac8eb8f4b_1_407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39ac8eb8f4b_1_407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內容頁_空白頁">
  <p:cSld name="內容頁_空白頁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ac8eb8f4b_1_41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g39ac8eb8f4b_1_41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ultralytics/ultralytics/blob/main/ultralytics/cfg/default.yaml" TargetMode="External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ultralytics.com/models/yolo12/#detection-performance-coco-val2017" TargetMode="External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%E4%BD%A0%E7%9A%84%E5%B8%B3%E8%99%9F/ml2025f/hw01/" TargetMode="External"/><Relationship Id="rId4" Type="http://schemas.openxmlformats.org/officeDocument/2006/relationships/hyperlink" Target="https://github.com/%E4%BD%A0%E7%9A%84%E5%B8%B3%E8%99%9F/ml2025f/hw01/" TargetMode="External"/><Relationship Id="rId5" Type="http://schemas.openxmlformats.org/officeDocument/2006/relationships/hyperlink" Target="https://github.com/%E4%BD%A0%E7%9A%84%E5%B8%B3%E8%99%9F/ml2025f/hw01/" TargetMode="External"/><Relationship Id="rId6" Type="http://schemas.openxmlformats.org/officeDocument/2006/relationships/hyperlink" Target="https://github.com/%E4%BD%A0%E7%9A%84%E5%B8%B3%E8%99%9F/ml2025f/hw01/" TargetMode="External"/><Relationship Id="rId7" Type="http://schemas.openxmlformats.org/officeDocument/2006/relationships/hyperlink" Target="https://yeh-chun-yu.github.io/ml2025f/hw05/index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t112598016@ntut.org.t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ctrTitle"/>
          </p:nvPr>
        </p:nvSpPr>
        <p:spPr>
          <a:xfrm>
            <a:off x="967109" y="2274495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icrosoft JhengHei"/>
              <a:buNone/>
            </a:pPr>
            <a:r>
              <a:rPr lang="zh-TW" sz="3200"/>
              <a:t>機器學習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967109" y="3007096"/>
            <a:ext cx="10191320" cy="1153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rPr lang="zh-TW"/>
              <a:t>HW0</a:t>
            </a:r>
            <a:r>
              <a:rPr lang="zh-TW"/>
              <a:t>5 － 主動脈瓣物件偵測(模型訓練)</a:t>
            </a:r>
            <a:endParaRPr/>
          </a:p>
        </p:txBody>
      </p:sp>
      <p:sp>
        <p:nvSpPr>
          <p:cNvPr id="108" name="Google Shape;108;p6"/>
          <p:cNvSpPr txBox="1"/>
          <p:nvPr>
            <p:ph idx="2" type="body"/>
          </p:nvPr>
        </p:nvSpPr>
        <p:spPr>
          <a:xfrm>
            <a:off x="967108" y="4572000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教師</a:t>
            </a:r>
            <a:endParaRPr/>
          </a:p>
        </p:txBody>
      </p:sp>
      <p:sp>
        <p:nvSpPr>
          <p:cNvPr id="109" name="Google Shape;109;p6"/>
          <p:cNvSpPr txBox="1"/>
          <p:nvPr>
            <p:ph idx="3" type="body"/>
          </p:nvPr>
        </p:nvSpPr>
        <p:spPr>
          <a:xfrm>
            <a:off x="967108" y="5025006"/>
            <a:ext cx="665009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</a:pPr>
            <a:r>
              <a:rPr lang="zh-TW"/>
              <a:t>國立臺北科技大學資訊工程系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16" name="Google Shape;116;p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01</a:t>
            </a:r>
            <a:endParaRPr/>
          </a:p>
        </p:txBody>
      </p:sp>
      <p:sp>
        <p:nvSpPr>
          <p:cNvPr id="117" name="Google Shape;117;p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18" name="Google Shape;118;p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/>
          <p:nvPr>
            <p:ph type="ctrTitle"/>
          </p:nvPr>
        </p:nvSpPr>
        <p:spPr>
          <a:xfrm>
            <a:off x="953359" y="824935"/>
            <a:ext cx="8747531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目錄</a:t>
            </a:r>
            <a:endParaRPr/>
          </a:p>
        </p:txBody>
      </p:sp>
      <p:sp>
        <p:nvSpPr>
          <p:cNvPr id="124" name="Google Shape;124;p1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5" name="Google Shape;125;p1"/>
          <p:cNvSpPr txBox="1"/>
          <p:nvPr>
            <p:ph idx="2" type="body"/>
          </p:nvPr>
        </p:nvSpPr>
        <p:spPr>
          <a:xfrm>
            <a:off x="954088" y="1618596"/>
            <a:ext cx="10102795" cy="4089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評分標準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作業說明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700"/>
              <a:buChar char="•"/>
            </a:pPr>
            <a:r>
              <a:rPr lang="zh-TW"/>
              <a:t>繳交資訊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910179600_0_4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33" name="Google Shape;133;g27910179600_0_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34" name="Google Shape;134;g27910179600_0_4"/>
          <p:cNvSpPr txBox="1"/>
          <p:nvPr>
            <p:ph idx="2" type="body"/>
          </p:nvPr>
        </p:nvSpPr>
        <p:spPr>
          <a:xfrm>
            <a:off x="966788" y="808035"/>
            <a:ext cx="37482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5800"/>
              <a:buNone/>
            </a:pPr>
            <a:r>
              <a:rPr lang="zh-TW"/>
              <a:t>02</a:t>
            </a:r>
            <a:endParaRPr/>
          </a:p>
        </p:txBody>
      </p:sp>
      <p:sp>
        <p:nvSpPr>
          <p:cNvPr id="135" name="Google Shape;135;g27910179600_0_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6" name="Google Shape;136;g27910179600_0_4"/>
          <p:cNvSpPr txBox="1"/>
          <p:nvPr>
            <p:ph idx="3" type="body"/>
          </p:nvPr>
        </p:nvSpPr>
        <p:spPr>
          <a:xfrm>
            <a:off x="967109" y="3124542"/>
            <a:ext cx="101913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510a4e5fe_0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評分標準</a:t>
            </a:r>
            <a:endParaRPr/>
          </a:p>
        </p:txBody>
      </p:sp>
      <p:sp>
        <p:nvSpPr>
          <p:cNvPr id="142" name="Google Shape;142;g2f510a4e5fe_0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3" name="Google Shape;143;g2f510a4e5fe_0_0"/>
          <p:cNvSpPr txBox="1"/>
          <p:nvPr>
            <p:ph idx="2" type="body"/>
          </p:nvPr>
        </p:nvSpPr>
        <p:spPr>
          <a:xfrm>
            <a:off x="947750" y="1556288"/>
            <a:ext cx="10102800" cy="45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Simple baseline (4pt)</a:t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Medium baseline (4pt)</a:t>
            </a:r>
            <a:endParaRPr b="1"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Strong baseline (2pt)</a:t>
            </a:r>
            <a:endParaRPr b="1" sz="2400">
              <a:solidFill>
                <a:srgbClr val="7030A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4" name="Google Shape;144;g2f510a4e5fe_0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9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作業說明</a:t>
            </a:r>
            <a:endParaRPr/>
          </a:p>
        </p:txBody>
      </p:sp>
      <p:sp>
        <p:nvSpPr>
          <p:cNvPr id="150" name="Google Shape;150;p39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章節05</a:t>
            </a:r>
            <a:endParaRPr/>
          </a:p>
        </p:txBody>
      </p:sp>
      <p:sp>
        <p:nvSpPr>
          <p:cNvPr id="151" name="Google Shape;151;p39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03</a:t>
            </a:r>
            <a:endParaRPr/>
          </a:p>
        </p:txBody>
      </p:sp>
      <p:sp>
        <p:nvSpPr>
          <p:cNvPr id="152" name="Google Shape;152;p39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3" name="Google Shape;153;p39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c8eb8f4b_1_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9ac8eb8f4b_1_41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r>
              <a:rPr lang="zh-TW" sz="2100">
                <a:solidFill>
                  <a:srgbClr val="00B050"/>
                </a:solidFill>
              </a:rPr>
              <a:t>(Colab、個人電腦皆可)</a:t>
            </a:r>
            <a:endParaRPr sz="2100"/>
          </a:p>
        </p:txBody>
      </p:sp>
      <p:sp>
        <p:nvSpPr>
          <p:cNvPr id="160" name="Google Shape;160;g39ac8eb8f4b_1_41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1" name="Google Shape;161;g39ac8eb8f4b_1_41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根據</a:t>
            </a:r>
            <a:r>
              <a:rPr b="1" lang="zh-TW" sz="2400" u="sng">
                <a:solidFill>
                  <a:srgbClr val="00B050"/>
                </a:solidFill>
              </a:rPr>
              <a:t>課程講義</a:t>
            </a:r>
            <a:r>
              <a:rPr b="1" lang="zh-TW" sz="2400">
                <a:solidFill>
                  <a:srgbClr val="00B050"/>
                </a:solidFill>
              </a:rPr>
              <a:t>中</a:t>
            </a:r>
            <a:r>
              <a:rPr b="1" lang="zh-TW" sz="2400" u="sng">
                <a:solidFill>
                  <a:srgbClr val="00B050"/>
                </a:solidFill>
              </a:rPr>
              <a:t>範例程式碼</a:t>
            </a:r>
            <a:r>
              <a:rPr b="1" lang="zh-TW" sz="2400">
                <a:solidFill>
                  <a:srgbClr val="00B050"/>
                </a:solidFill>
              </a:rPr>
              <a:t>Colab的超連結，前往訓練模型的colab。</a:t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2" name="Google Shape;162;g39ac8eb8f4b_1_41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63" name="Google Shape;163;g39ac8eb8f4b_1_41"/>
          <p:cNvSpPr txBox="1"/>
          <p:nvPr/>
        </p:nvSpPr>
        <p:spPr>
          <a:xfrm>
            <a:off x="21325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g39ac8eb8f4b_1_41" title="投影片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000" y="2084950"/>
            <a:ext cx="7200000" cy="39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c8eb8f4b_1_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9ac8eb8f4b_1_82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r>
              <a:rPr lang="zh-TW" sz="2100">
                <a:solidFill>
                  <a:srgbClr val="00B050"/>
                </a:solidFill>
              </a:rPr>
              <a:t>(Colab、個人電腦皆可)</a:t>
            </a:r>
            <a:endParaRPr/>
          </a:p>
        </p:txBody>
      </p:sp>
      <p:sp>
        <p:nvSpPr>
          <p:cNvPr id="171" name="Google Shape;171;g39ac8eb8f4b_1_8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2" name="Google Shape;172;g39ac8eb8f4b_1_82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下載</a:t>
            </a:r>
            <a:r>
              <a:rPr b="1" lang="zh-TW" sz="2400">
                <a:solidFill>
                  <a:srgbClr val="00B050"/>
                </a:solidFill>
              </a:rPr>
              <a:t>資料集(</a:t>
            </a:r>
            <a:r>
              <a:rPr b="1" lang="zh-TW" sz="2400">
                <a:solidFill>
                  <a:schemeClr val="accent3"/>
                </a:solidFill>
              </a:rPr>
              <a:t>訓練集</a:t>
            </a:r>
            <a:r>
              <a:rPr b="1" lang="zh-TW" sz="2400">
                <a:solidFill>
                  <a:srgbClr val="00B050"/>
                </a:solidFill>
              </a:rPr>
              <a:t>)到本地端 local 電腦。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3" name="Google Shape;173;g39ac8eb8f4b_1_8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4" name="Google Shape;174;g39ac8eb8f4b_1_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g39ac8eb8f4b_1_82" title="投影片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800" y="2084400"/>
            <a:ext cx="7200000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39ac8eb8f4b_1_82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ac8eb8f4b_1_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9ac8eb8f4b_1_124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r>
              <a:rPr lang="zh-TW" sz="2100">
                <a:solidFill>
                  <a:srgbClr val="00B050"/>
                </a:solidFill>
              </a:rPr>
              <a:t>(Colab、個人電腦皆可)</a:t>
            </a:r>
            <a:endParaRPr/>
          </a:p>
        </p:txBody>
      </p:sp>
      <p:sp>
        <p:nvSpPr>
          <p:cNvPr id="183" name="Google Shape;183;g39ac8eb8f4b_1_124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4" name="Google Shape;184;g39ac8eb8f4b_1_124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上傳</a:t>
            </a:r>
            <a:r>
              <a:rPr b="1" lang="zh-TW" sz="2400">
                <a:solidFill>
                  <a:srgbClr val="00B050"/>
                </a:solidFill>
              </a:rPr>
              <a:t>資料集(</a:t>
            </a:r>
            <a:r>
              <a:rPr b="1" lang="zh-TW" sz="2400">
                <a:solidFill>
                  <a:schemeClr val="accent3"/>
                </a:solidFill>
              </a:rPr>
              <a:t>訓練集</a:t>
            </a:r>
            <a:r>
              <a:rPr b="1" lang="zh-TW" sz="2400">
                <a:solidFill>
                  <a:srgbClr val="00B050"/>
                </a:solidFill>
              </a:rPr>
              <a:t>)到 Google Drive。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5" name="Google Shape;185;g39ac8eb8f4b_1_124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86" name="Google Shape;186;g39ac8eb8f4b_1_1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g39ac8eb8f4b_1_124" title="投影片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800" y="2084400"/>
            <a:ext cx="7200000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9ac8eb8f4b_1_124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ac8eb8f4b_1_1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9ac8eb8f4b_1_166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r>
              <a:rPr lang="zh-TW" sz="2100">
                <a:solidFill>
                  <a:srgbClr val="00B050"/>
                </a:solidFill>
              </a:rPr>
              <a:t>(Colab、個人電腦皆可)</a:t>
            </a:r>
            <a:endParaRPr/>
          </a:p>
        </p:txBody>
      </p:sp>
      <p:sp>
        <p:nvSpPr>
          <p:cNvPr id="195" name="Google Shape;195;g39ac8eb8f4b_1_166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6" name="Google Shape;196;g39ac8eb8f4b_1_166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執行 Colab</a:t>
            </a:r>
            <a:r>
              <a:rPr b="1" lang="zh-TW" sz="2400">
                <a:solidFill>
                  <a:srgbClr val="00B050"/>
                </a:solidFill>
              </a:rPr>
              <a:t>，從 Google Drive </a:t>
            </a:r>
            <a:r>
              <a:rPr b="1" lang="zh-TW" sz="2400">
                <a:solidFill>
                  <a:srgbClr val="FF0000"/>
                </a:solidFill>
              </a:rPr>
              <a:t>載入</a:t>
            </a:r>
            <a:r>
              <a:rPr b="1" lang="zh-TW" sz="2400">
                <a:solidFill>
                  <a:srgbClr val="00B050"/>
                </a:solidFill>
              </a:rPr>
              <a:t>50筆</a:t>
            </a:r>
            <a:r>
              <a:rPr b="1" lang="zh-TW" sz="2400" u="sng">
                <a:solidFill>
                  <a:srgbClr val="00B050"/>
                </a:solidFill>
              </a:rPr>
              <a:t>訓練集</a:t>
            </a:r>
            <a:r>
              <a:rPr b="1" lang="zh-TW" sz="2400">
                <a:solidFill>
                  <a:srgbClr val="00B050"/>
                </a:solidFill>
              </a:rPr>
              <a:t>到 Colab。</a:t>
            </a:r>
            <a:endParaRPr b="1" sz="2400">
              <a:solidFill>
                <a:srgbClr val="00B050"/>
              </a:solidFill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7" name="Google Shape;197;g39ac8eb8f4b_1_166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8" name="Google Shape;198;g39ac8eb8f4b_1_1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g39ac8eb8f4b_1_166" title="投影片5.PNG"/>
          <p:cNvPicPr preferRelativeResize="0"/>
          <p:nvPr/>
        </p:nvPicPr>
        <p:blipFill rotWithShape="1">
          <a:blip r:embed="rId3">
            <a:alphaModFix/>
          </a:blip>
          <a:srcRect b="0" l="0" r="0" t="13307"/>
          <a:stretch/>
        </p:blipFill>
        <p:spPr>
          <a:xfrm>
            <a:off x="1480475" y="2127800"/>
            <a:ext cx="9209574" cy="43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9ac8eb8f4b_1_166"/>
          <p:cNvSpPr/>
          <p:nvPr/>
        </p:nvSpPr>
        <p:spPr>
          <a:xfrm>
            <a:off x="4850375" y="3073800"/>
            <a:ext cx="257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ac8eb8f4b_1_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9ac8eb8f4b_1_208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r>
              <a:rPr lang="zh-TW" sz="2100">
                <a:solidFill>
                  <a:srgbClr val="00B050"/>
                </a:solidFill>
              </a:rPr>
              <a:t>(Colab、個人電腦皆可)</a:t>
            </a:r>
            <a:endParaRPr/>
          </a:p>
        </p:txBody>
      </p:sp>
      <p:sp>
        <p:nvSpPr>
          <p:cNvPr id="207" name="Google Shape;207;g39ac8eb8f4b_1_208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8" name="Google Shape;208;g39ac8eb8f4b_1_208"/>
          <p:cNvSpPr txBox="1"/>
          <p:nvPr>
            <p:ph idx="2" type="body"/>
          </p:nvPr>
        </p:nvSpPr>
        <p:spPr>
          <a:xfrm>
            <a:off x="954101" y="1618600"/>
            <a:ext cx="10566000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 Colab 中所有步驟執行完畢，完成訓練 baseline 模型(YOLOv12)。</a:t>
            </a:r>
            <a:endParaRPr b="1" sz="2400">
              <a:solidFill>
                <a:srgbClr val="00B05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訓練完成後，Colab 產生</a:t>
            </a:r>
            <a:r>
              <a:rPr b="1" lang="zh-TW" sz="2400">
                <a:solidFill>
                  <a:srgbClr val="FF0000"/>
                </a:solidFill>
              </a:rPr>
              <a:t>權重檔(best.pt)，檔案5.3MB</a:t>
            </a:r>
            <a:r>
              <a:rPr b="1" lang="zh-TW" sz="2400">
                <a:solidFill>
                  <a:srgbClr val="00B050"/>
                </a:solidFill>
              </a:rPr>
              <a:t>。</a:t>
            </a:r>
            <a:endParaRPr b="1" sz="2400">
              <a:solidFill>
                <a:srgbClr val="00B05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將上述 baseline 模型</a:t>
            </a:r>
            <a:r>
              <a:rPr b="1" lang="zh-TW" sz="2400">
                <a:solidFill>
                  <a:srgbClr val="FF0000"/>
                </a:solidFill>
              </a:rPr>
              <a:t>權重檔</a:t>
            </a:r>
            <a:r>
              <a:rPr b="1" lang="zh-TW" sz="2400">
                <a:solidFill>
                  <a:srgbClr val="00B050"/>
                </a:solidFill>
              </a:rPr>
              <a:t>，</a:t>
            </a:r>
            <a:r>
              <a:rPr b="1" lang="zh-TW" sz="2400">
                <a:solidFill>
                  <a:srgbClr val="FF0000"/>
                </a:solidFill>
              </a:rPr>
              <a:t>下載</a:t>
            </a:r>
            <a:r>
              <a:rPr b="1" lang="zh-TW" sz="2400">
                <a:solidFill>
                  <a:srgbClr val="00B050"/>
                </a:solidFill>
              </a:rPr>
              <a:t>至你的本地端 local 電腦。</a:t>
            </a:r>
            <a:endParaRPr b="1" sz="2400">
              <a:solidFill>
                <a:srgbClr val="00B05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t/>
            </a:r>
            <a:endParaRPr b="1" sz="2400"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00B050"/>
              </a:buClr>
              <a:buSzPts val="4050"/>
              <a:buFont typeface="Arial"/>
              <a:buNone/>
            </a:pPr>
            <a:r>
              <a:t/>
            </a:r>
            <a:endParaRPr>
              <a:solidFill>
                <a:srgbClr val="00B05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9" name="Google Shape;209;g39ac8eb8f4b_1_208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10" name="Google Shape;210;g39ac8eb8f4b_1_208" title="投影片6.PNG"/>
          <p:cNvPicPr preferRelativeResize="0"/>
          <p:nvPr/>
        </p:nvPicPr>
        <p:blipFill rotWithShape="1">
          <a:blip r:embed="rId3">
            <a:alphaModFix/>
          </a:blip>
          <a:srcRect b="5856" l="0" r="0" t="13699"/>
          <a:stretch/>
        </p:blipFill>
        <p:spPr>
          <a:xfrm>
            <a:off x="2701827" y="3144925"/>
            <a:ext cx="7929949" cy="35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9ac8eb8f4b_1_208"/>
          <p:cNvSpPr/>
          <p:nvPr/>
        </p:nvSpPr>
        <p:spPr>
          <a:xfrm>
            <a:off x="4927275" y="3568125"/>
            <a:ext cx="233700" cy="11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ac8eb8f4b_1_29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400">
                <a:solidFill>
                  <a:srgbClr val="00B050"/>
                </a:solidFill>
              </a:rPr>
              <a:t>Simple baseline (4pt)</a:t>
            </a:r>
            <a:r>
              <a:rPr lang="zh-TW" sz="2100">
                <a:solidFill>
                  <a:srgbClr val="00B050"/>
                </a:solidFill>
              </a:rPr>
              <a:t>(Colab、個人電腦皆可)</a:t>
            </a:r>
            <a:endParaRPr/>
          </a:p>
        </p:txBody>
      </p:sp>
      <p:sp>
        <p:nvSpPr>
          <p:cNvPr id="218" name="Google Shape;218;g39ac8eb8f4b_1_29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9ac8eb8f4b_1_290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Char char="●"/>
            </a:pPr>
            <a:r>
              <a:rPr b="1" lang="zh-TW" sz="2400">
                <a:solidFill>
                  <a:srgbClr val="00B050"/>
                </a:solidFill>
              </a:rPr>
              <a:t>將訓練完的</a:t>
            </a:r>
            <a:r>
              <a:rPr b="1" lang="zh-TW" sz="2400">
                <a:solidFill>
                  <a:srgbClr val="FF0000"/>
                </a:solidFill>
              </a:rPr>
              <a:t> m</a:t>
            </a:r>
            <a:r>
              <a:rPr b="1" lang="zh-TW" sz="2400">
                <a:solidFill>
                  <a:srgbClr val="FF0000"/>
                </a:solidFill>
              </a:rPr>
              <a:t>AP50 </a:t>
            </a:r>
            <a:r>
              <a:rPr b="1" lang="zh-TW" sz="2400">
                <a:solidFill>
                  <a:srgbClr val="FF0000"/>
                </a:solidFill>
              </a:rPr>
              <a:t>分數結果(如下圖)，截圖並放到</a:t>
            </a:r>
            <a:r>
              <a:rPr b="1" lang="zh-TW" sz="2400">
                <a:solidFill>
                  <a:schemeClr val="accent6"/>
                </a:solidFill>
              </a:rPr>
              <a:t>作品集網站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20" name="Google Shape;220;g39ac8eb8f4b_1_29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21" name="Google Shape;221;g39ac8eb8f4b_1_2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213" y="2569063"/>
            <a:ext cx="9686925" cy="2809875"/>
          </a:xfrm>
          <a:prstGeom prst="rect">
            <a:avLst/>
          </a:prstGeom>
          <a:noFill/>
          <a:ln cap="flat" cmpd="sng" w="243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g39ac8eb8f4b_1_290"/>
          <p:cNvSpPr/>
          <p:nvPr/>
        </p:nvSpPr>
        <p:spPr>
          <a:xfrm>
            <a:off x="5949725" y="3031250"/>
            <a:ext cx="488700" cy="337500"/>
          </a:xfrm>
          <a:prstGeom prst="rect">
            <a:avLst/>
          </a:prstGeom>
          <a:noFill/>
          <a:ln cap="flat" cmpd="sng" w="243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775" lIns="77775" spcFirstLastPara="1" rIns="77775" wrap="square" tIns="77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ac8eb8f4b_1_3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9ac8eb8f4b_1_373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FF0000"/>
                </a:solidFill>
              </a:rPr>
              <a:t>Medium baseline (4pt)</a:t>
            </a:r>
            <a:r>
              <a:rPr lang="zh-TW" sz="1800">
                <a:solidFill>
                  <a:schemeClr val="accent3"/>
                </a:solidFill>
              </a:rPr>
              <a:t>(Colab、個人電腦皆可)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229" name="Google Shape;229;g39ac8eb8f4b_1_373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0" name="Google Shape;230;g39ac8eb8f4b_1_373"/>
          <p:cNvSpPr txBox="1"/>
          <p:nvPr>
            <p:ph idx="2" type="body"/>
          </p:nvPr>
        </p:nvSpPr>
        <p:spPr>
          <a:xfrm>
            <a:off x="954100" y="1560575"/>
            <a:ext cx="109542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調整</a:t>
            </a:r>
            <a:r>
              <a:rPr b="1" lang="zh-TW" sz="2400">
                <a:solidFill>
                  <a:schemeClr val="accent1"/>
                </a:solidFill>
              </a:rPr>
              <a:t>訓練/驗證</a:t>
            </a:r>
            <a:r>
              <a:rPr b="1" lang="zh-TW" sz="2400">
                <a:solidFill>
                  <a:srgbClr val="FF0000"/>
                </a:solidFill>
              </a:rPr>
              <a:t>筆數</a:t>
            </a:r>
            <a:r>
              <a:rPr b="1" lang="zh-TW" sz="2400">
                <a:solidFill>
                  <a:srgbClr val="FF0000"/>
                </a:solidFill>
              </a:rPr>
              <a:t>(總數須為50筆)、 </a:t>
            </a:r>
            <a:r>
              <a:rPr b="1" lang="zh-TW" sz="2400">
                <a:solidFill>
                  <a:schemeClr val="accent1"/>
                </a:solidFill>
              </a:rPr>
              <a:t>Epochs</a:t>
            </a:r>
            <a:r>
              <a:rPr b="1" lang="zh-TW" sz="2400">
                <a:solidFill>
                  <a:srgbClr val="FF0000"/>
                </a:solidFill>
              </a:rPr>
              <a:t> 或其他訓練參數，得到比 </a:t>
            </a:r>
            <a:r>
              <a:rPr b="1" lang="zh-TW" sz="2400">
                <a:solidFill>
                  <a:srgbClr val="00B050"/>
                </a:solidFill>
              </a:rPr>
              <a:t>Simple baseline(mAP50 = 0.963) </a:t>
            </a:r>
            <a:r>
              <a:rPr b="1" lang="zh-TW" sz="2400">
                <a:solidFill>
                  <a:schemeClr val="accent3"/>
                </a:solidFill>
              </a:rPr>
              <a:t>更高的分數</a:t>
            </a:r>
            <a:r>
              <a:rPr b="1" lang="zh-TW" sz="2400">
                <a:solidFill>
                  <a:srgbClr val="FF0000"/>
                </a:solidFill>
              </a:rPr>
              <a:t>。</a:t>
            </a:r>
            <a:endParaRPr b="1" sz="24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更改參數參考網址 : </a:t>
            </a:r>
            <a:endParaRPr b="1" sz="24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 u="sng">
                <a:solidFill>
                  <a:schemeClr val="hlink"/>
                </a:solidFill>
                <a:hlinkClick r:id="rId3"/>
              </a:rPr>
              <a:t>https://github.com/ultralytics/ultralytics/blob/main/ultralytics/cfg/default.yaml</a:t>
            </a:r>
            <a:endParaRPr b="1" sz="20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●"/>
            </a:pPr>
            <a:r>
              <a:rPr b="1" lang="zh-TW" sz="2400">
                <a:solidFill>
                  <a:srgbClr val="FF0000"/>
                </a:solidFill>
              </a:rPr>
              <a:t>將 Colab 上面訓練出來的 m</a:t>
            </a:r>
            <a:r>
              <a:rPr b="1" lang="zh-TW" sz="2400">
                <a:solidFill>
                  <a:srgbClr val="FF0000"/>
                </a:solidFill>
              </a:rPr>
              <a:t>AP50</a:t>
            </a:r>
            <a:r>
              <a:rPr b="1" lang="zh-TW" sz="2400">
                <a:solidFill>
                  <a:srgbClr val="FF0000"/>
                </a:solidFill>
              </a:rPr>
              <a:t> 分數結果(如下圖)，截圖放到</a:t>
            </a:r>
            <a:r>
              <a:rPr b="1" lang="zh-TW" sz="2400">
                <a:solidFill>
                  <a:schemeClr val="accent1"/>
                </a:solidFill>
              </a:rPr>
              <a:t>作品集網站</a:t>
            </a:r>
            <a:r>
              <a:rPr b="1" lang="zh-TW" sz="2400">
                <a:solidFill>
                  <a:schemeClr val="accent1"/>
                </a:solidFill>
              </a:rPr>
              <a:t>，</a:t>
            </a:r>
            <a:r>
              <a:rPr b="1" lang="zh-TW" sz="2400">
                <a:solidFill>
                  <a:schemeClr val="accent3"/>
                </a:solidFill>
              </a:rPr>
              <a:t>並簡單說明如何得到更高的分數</a:t>
            </a:r>
            <a:r>
              <a:rPr b="1" lang="zh-TW" sz="2400">
                <a:solidFill>
                  <a:srgbClr val="FF0000"/>
                </a:solidFill>
              </a:rPr>
              <a:t>。</a:t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231" name="Google Shape;231;g39ac8eb8f4b_1_373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>
                <a:solidFill>
                  <a:srgbClr val="FF0000"/>
                </a:solidFill>
              </a:rPr>
              <a:t>P.</a:t>
            </a:r>
            <a:fld id="{00000000-1234-1234-1234-123412341234}" type="slidenum">
              <a:rPr lang="zh-TW">
                <a:solidFill>
                  <a:srgbClr val="FF0000"/>
                </a:solidFill>
              </a:rPr>
              <a:t>‹#›</a:t>
            </a:fld>
            <a:endParaRPr>
              <a:solidFill>
                <a:srgbClr val="FF0000"/>
              </a:solidFill>
            </a:endParaRPr>
          </a:p>
        </p:txBody>
      </p:sp>
      <p:pic>
        <p:nvPicPr>
          <p:cNvPr id="232" name="Google Shape;232;g39ac8eb8f4b_1_3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1975" y="4992084"/>
            <a:ext cx="9086850" cy="914400"/>
          </a:xfrm>
          <a:prstGeom prst="rect">
            <a:avLst/>
          </a:prstGeom>
          <a:noFill/>
          <a:ln cap="flat" cmpd="sng" w="243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g39ac8eb8f4b_1_373"/>
          <p:cNvSpPr/>
          <p:nvPr/>
        </p:nvSpPr>
        <p:spPr>
          <a:xfrm>
            <a:off x="5813250" y="5456035"/>
            <a:ext cx="465600" cy="373500"/>
          </a:xfrm>
          <a:prstGeom prst="rect">
            <a:avLst/>
          </a:prstGeom>
          <a:noFill/>
          <a:ln cap="flat" cmpd="sng" w="243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775" lIns="77775" spcFirstLastPara="1" rIns="77775" wrap="square" tIns="77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afce98e5a_0_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9afce98e5a_0_2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7030A0"/>
                </a:solidFill>
              </a:rPr>
              <a:t>Strong baseline (2pt)</a:t>
            </a:r>
            <a:r>
              <a:rPr lang="zh-TW" sz="3000">
                <a:solidFill>
                  <a:srgbClr val="7030A0"/>
                </a:solidFill>
              </a:rPr>
              <a:t>(必須使用Colab)</a:t>
            </a:r>
            <a:endParaRPr sz="5600">
              <a:solidFill>
                <a:srgbClr val="7030A0"/>
              </a:solidFill>
            </a:endParaRPr>
          </a:p>
        </p:txBody>
      </p:sp>
      <p:sp>
        <p:nvSpPr>
          <p:cNvPr id="240" name="Google Shape;240;g39afce98e5a_0_2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1" name="Google Shape;241;g39afce98e5a_0_2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42" name="Google Shape;242;g39afce98e5a_0_2"/>
          <p:cNvSpPr txBox="1"/>
          <p:nvPr>
            <p:ph idx="2" type="body"/>
          </p:nvPr>
        </p:nvSpPr>
        <p:spPr>
          <a:xfrm>
            <a:off x="954100" y="1560575"/>
            <a:ext cx="10539300" cy="41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使用</a:t>
            </a:r>
            <a:r>
              <a:rPr b="1" lang="zh-TW" sz="2400">
                <a:solidFill>
                  <a:srgbClr val="7030A0"/>
                </a:solidFill>
              </a:rPr>
              <a:t>不同版本、大小的YOLO</a:t>
            </a:r>
            <a:r>
              <a:rPr b="1" lang="zh-TW" sz="2400">
                <a:solidFill>
                  <a:srgbClr val="7030A0"/>
                </a:solidFill>
              </a:rPr>
              <a:t>模型</a:t>
            </a:r>
            <a:r>
              <a:rPr b="1" lang="zh-TW" sz="2400">
                <a:solidFill>
                  <a:srgbClr val="7030A0"/>
                </a:solidFill>
              </a:rPr>
              <a:t>或其他物件偵測模型</a:t>
            </a:r>
            <a:r>
              <a:rPr b="1" lang="zh-TW" sz="2400">
                <a:solidFill>
                  <a:srgbClr val="7030A0"/>
                </a:solidFill>
              </a:rPr>
              <a:t>(例如: </a:t>
            </a:r>
            <a:r>
              <a:rPr b="1" lang="zh-TW" sz="2400">
                <a:solidFill>
                  <a:srgbClr val="7030A0"/>
                </a:solidFill>
              </a:rPr>
              <a:t>YOLOv12m</a:t>
            </a:r>
            <a:r>
              <a:rPr b="1" lang="zh-TW" sz="2400">
                <a:solidFill>
                  <a:srgbClr val="7030A0"/>
                </a:solidFill>
              </a:rPr>
              <a:t>、YOLOv11s、</a:t>
            </a:r>
            <a:r>
              <a:rPr b="1" lang="zh-TW" sz="2400">
                <a:solidFill>
                  <a:srgbClr val="7030A0"/>
                </a:solidFill>
              </a:rPr>
              <a:t>YOLOv9t</a:t>
            </a:r>
            <a:r>
              <a:rPr b="1" lang="zh-TW" sz="2400">
                <a:solidFill>
                  <a:srgbClr val="7030A0"/>
                </a:solidFill>
              </a:rPr>
              <a:t>...等)，進行訓練，並繳交</a:t>
            </a:r>
            <a:r>
              <a:rPr b="1" lang="zh-TW" sz="2400">
                <a:solidFill>
                  <a:srgbClr val="FF0000"/>
                </a:solidFill>
              </a:rPr>
              <a:t> Colab 程式碼連結</a:t>
            </a:r>
            <a:r>
              <a:rPr b="1" lang="zh-TW" sz="2400">
                <a:solidFill>
                  <a:srgbClr val="7030A0"/>
                </a:solidFill>
              </a:rPr>
              <a:t>到你的 HW0</a:t>
            </a:r>
            <a:r>
              <a:rPr b="1" lang="zh-TW" sz="2400">
                <a:solidFill>
                  <a:srgbClr val="7030A0"/>
                </a:solidFill>
              </a:rPr>
              <a:t>5</a:t>
            </a:r>
            <a:r>
              <a:rPr b="1" lang="zh-TW" sz="2400">
                <a:solidFill>
                  <a:srgbClr val="7030A0"/>
                </a:solidFill>
              </a:rPr>
              <a:t> 作品集。</a:t>
            </a:r>
            <a:endParaRPr b="1" sz="2400">
              <a:solidFill>
                <a:srgbClr val="7030A0"/>
              </a:solidFill>
            </a:endParaRPr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比賽可以成功訓練出最多的模型數量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成功訓練出最多的模型數量，名列</a:t>
            </a:r>
            <a:r>
              <a:rPr b="1" lang="zh-TW" sz="2400">
                <a:solidFill>
                  <a:srgbClr val="FF0000"/>
                </a:solidFill>
              </a:rPr>
              <a:t>全班前20名</a:t>
            </a:r>
            <a:r>
              <a:rPr b="1" lang="zh-TW" sz="2400">
                <a:solidFill>
                  <a:srgbClr val="7030A0"/>
                </a:solidFill>
              </a:rPr>
              <a:t>。(1pt)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成功訓練出最多的模型數量，名列</a:t>
            </a:r>
            <a:r>
              <a:rPr b="1" lang="zh-TW" sz="2400">
                <a:solidFill>
                  <a:srgbClr val="FF0000"/>
                </a:solidFill>
              </a:rPr>
              <a:t>全班前10名</a:t>
            </a:r>
            <a:r>
              <a:rPr b="1" lang="zh-TW" sz="2400">
                <a:solidFill>
                  <a:srgbClr val="7030A0"/>
                </a:solidFill>
              </a:rPr>
              <a:t>。(1pt)</a:t>
            </a:r>
            <a:endParaRPr b="1" sz="2400">
              <a:solidFill>
                <a:srgbClr val="7030A0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並將</a:t>
            </a:r>
            <a:r>
              <a:rPr b="1" lang="zh-TW" sz="2400" u="sng">
                <a:solidFill>
                  <a:srgbClr val="7030A0"/>
                </a:solidFill>
              </a:rPr>
              <a:t>成功訓練出的畫面</a:t>
            </a:r>
            <a:r>
              <a:rPr b="1" lang="zh-TW" sz="2400">
                <a:solidFill>
                  <a:srgbClr val="7030A0"/>
                </a:solidFill>
              </a:rPr>
              <a:t>截圖並放到</a:t>
            </a:r>
            <a:r>
              <a:rPr b="1" lang="zh-TW" sz="2400">
                <a:solidFill>
                  <a:srgbClr val="FF0000"/>
                </a:solidFill>
              </a:rPr>
              <a:t>作品集網站，並說明使用了哪些模型。</a:t>
            </a:r>
            <a:endParaRPr b="1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afce98e5a_0_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cap="flat" cmpd="sng" w="762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>
                <a:solidFill>
                  <a:schemeClr val="lt1"/>
                </a:solidFill>
              </a:rPr>
              <a:t>https://docs.monai.io/en/stable/networks.html#nets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9afce98e5a_0_1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 sz="4400">
                <a:solidFill>
                  <a:srgbClr val="7030A0"/>
                </a:solidFill>
              </a:rPr>
              <a:t>Strong baseline (2pt)</a:t>
            </a:r>
            <a:r>
              <a:rPr lang="zh-TW" sz="3000">
                <a:solidFill>
                  <a:srgbClr val="7030A0"/>
                </a:solidFill>
              </a:rPr>
              <a:t>(必須使用Colab)</a:t>
            </a:r>
            <a:endParaRPr/>
          </a:p>
        </p:txBody>
      </p:sp>
      <p:sp>
        <p:nvSpPr>
          <p:cNvPr id="249" name="Google Shape;249;g39afce98e5a_0_1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0" name="Google Shape;250;g39afce98e5a_0_1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51" name="Google Shape;251;g39afce98e5a_0_10"/>
          <p:cNvSpPr txBox="1"/>
          <p:nvPr>
            <p:ph idx="2" type="body"/>
          </p:nvPr>
        </p:nvSpPr>
        <p:spPr>
          <a:xfrm>
            <a:off x="954100" y="1560575"/>
            <a:ext cx="10102800" cy="3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Char char="●"/>
            </a:pPr>
            <a:r>
              <a:rPr b="1" lang="zh-TW" sz="2400">
                <a:solidFill>
                  <a:srgbClr val="7030A0"/>
                </a:solidFill>
              </a:rPr>
              <a:t>model</a:t>
            </a:r>
            <a:r>
              <a:rPr b="1" lang="zh-TW" sz="2400">
                <a:solidFill>
                  <a:srgbClr val="7030A0"/>
                </a:solidFill>
              </a:rPr>
              <a:t> = YOLO('yolo12n.pt')</a:t>
            </a:r>
            <a:endParaRPr b="1" sz="2400">
              <a:solidFill>
                <a:srgbClr val="7030A0"/>
              </a:solidFill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Char char="●"/>
            </a:pPr>
            <a:r>
              <a:rPr lang="zh-TW" sz="1800" u="sng">
                <a:solidFill>
                  <a:schemeClr val="hlink"/>
                </a:solidFill>
                <a:hlinkClick r:id="rId3"/>
              </a:rPr>
              <a:t>https://docs.ultralytics.com/models/yolo12/#detection-performance-coco-val2017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zh-TW">
                <a:solidFill>
                  <a:srgbClr val="7030A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b="1" sz="2400">
              <a:solidFill>
                <a:srgbClr val="7030A0"/>
              </a:solidFill>
            </a:endParaRPr>
          </a:p>
        </p:txBody>
      </p:sp>
      <p:pic>
        <p:nvPicPr>
          <p:cNvPr id="252" name="Google Shape;252;g39afce98e5a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5225" y="2686950"/>
            <a:ext cx="6429677" cy="39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g39afce98e5a_0_10"/>
          <p:cNvSpPr txBox="1"/>
          <p:nvPr/>
        </p:nvSpPr>
        <p:spPr>
          <a:xfrm>
            <a:off x="3299249" y="3052950"/>
            <a:ext cx="133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TW" sz="2000">
                <a:solidFill>
                  <a:schemeClr val="accent3"/>
                </a:solidFill>
              </a:rPr>
              <a:t>不同版本</a:t>
            </a:r>
            <a:endParaRPr sz="2000">
              <a:solidFill>
                <a:schemeClr val="accent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54" name="Google Shape;254;g39afce98e5a_0_10"/>
          <p:cNvSpPr txBox="1"/>
          <p:nvPr/>
        </p:nvSpPr>
        <p:spPr>
          <a:xfrm>
            <a:off x="5390849" y="3495450"/>
            <a:ext cx="141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TW" sz="2000">
                <a:solidFill>
                  <a:schemeClr val="accent3"/>
                </a:solidFill>
              </a:rPr>
              <a:t>不同</a:t>
            </a:r>
            <a:r>
              <a:rPr lang="zh-TW" sz="2000">
                <a:solidFill>
                  <a:schemeClr val="accent3"/>
                </a:solidFill>
              </a:rPr>
              <a:t>大小</a:t>
            </a:r>
            <a:endParaRPr sz="2000">
              <a:solidFill>
                <a:schemeClr val="accent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ctrTitle"/>
          </p:nvPr>
        </p:nvSpPr>
        <p:spPr>
          <a:xfrm>
            <a:off x="967109" y="2419102"/>
            <a:ext cx="101913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繳交資訊</a:t>
            </a:r>
            <a:endParaRPr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章節06</a:t>
            </a:r>
            <a:endParaRPr/>
          </a:p>
        </p:txBody>
      </p:sp>
      <p:sp>
        <p:nvSpPr>
          <p:cNvPr id="261" name="Google Shape;261;p43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04</a:t>
            </a:r>
            <a:endParaRPr/>
          </a:p>
        </p:txBody>
      </p:sp>
      <p:sp>
        <p:nvSpPr>
          <p:cNvPr id="262" name="Google Shape;262;p43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63" name="Google Shape;263;p43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11f23a0b7_0_52"/>
          <p:cNvSpPr txBox="1"/>
          <p:nvPr>
            <p:ph type="ctrTitle"/>
          </p:nvPr>
        </p:nvSpPr>
        <p:spPr>
          <a:xfrm>
            <a:off x="903345" y="533663"/>
            <a:ext cx="116631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Microsoft JhengHei"/>
              <a:buNone/>
            </a:pPr>
            <a:r>
              <a:rPr lang="zh-TW"/>
              <a:t>作業上傳</a:t>
            </a:r>
            <a:endParaRPr/>
          </a:p>
        </p:txBody>
      </p:sp>
      <p:sp>
        <p:nvSpPr>
          <p:cNvPr id="269" name="Google Shape;269;g3311f23a0b7_0_52"/>
          <p:cNvSpPr txBox="1"/>
          <p:nvPr/>
        </p:nvSpPr>
        <p:spPr>
          <a:xfrm>
            <a:off x="903340" y="1362975"/>
            <a:ext cx="10902300" cy="4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81000" lvl="0" marL="4572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SzPts val="2400"/>
              <a:buFont typeface="Microsoft JhengHei"/>
              <a:buChar char="●"/>
            </a:pP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上傳至 </a:t>
            </a:r>
            <a:r>
              <a:rPr b="0" i="0" lang="zh-TW" sz="2400" u="sng" cap="none" strike="noStrike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https://github.com/你的帳號/ml2025f/hw</a:t>
            </a:r>
            <a:r>
              <a:rPr b="0" i="0" lang="zh-TW" sz="2400" u="sng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r>
              <a:rPr lang="zh-TW" sz="2400" u="sng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</a:t>
            </a:r>
            <a:r>
              <a:rPr b="0" i="0" lang="zh-TW" sz="2400" u="sng" cap="none" strike="noStrike">
                <a:solidFill>
                  <a:srgbClr val="0563C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</a:t>
            </a:r>
            <a:r>
              <a:rPr b="0" i="0" lang="zh-TW" sz="24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●"/>
            </a:pP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繳交範例，請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見 </a:t>
            </a:r>
            <a:r>
              <a:rPr b="1" lang="zh-TW" sz="24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7"/>
              </a:rPr>
              <a:t>https://yeh-chun-yu.github.io/ml2025f/hw05/index.html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0" name="Google Shape;270;g3311f23a0b7_0_52"/>
          <p:cNvSpPr txBox="1"/>
          <p:nvPr/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1" name="Google Shape;271;g3311f23a0b7_0_52"/>
          <p:cNvSpPr txBox="1"/>
          <p:nvPr/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rgbClr val="000000"/>
                </a:solidFill>
                <a:latin typeface="Mulish"/>
                <a:ea typeface="Mulish"/>
                <a:cs typeface="Mulish"/>
                <a:sym typeface="Mulish"/>
              </a:rPr>
              <a:t>P.</a:t>
            </a:r>
            <a:fld id="{00000000-1234-1234-1234-123412341234}" type="slidenum">
              <a:rPr lang="zh-TW" sz="1200">
                <a:solidFill>
                  <a:srgbClr val="000000"/>
                </a:solidFill>
                <a:latin typeface="Mulish"/>
                <a:ea typeface="Mulish"/>
                <a:cs typeface="Mulish"/>
                <a:sym typeface="Mulish"/>
              </a:rPr>
              <a:t>‹#›</a:t>
            </a:fld>
            <a:endParaRPr sz="1200">
              <a:solidFill>
                <a:srgbClr val="000000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08cba9ff31_1_0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Regulations</a:t>
            </a:r>
            <a:endParaRPr/>
          </a:p>
        </p:txBody>
      </p:sp>
      <p:sp>
        <p:nvSpPr>
          <p:cNvPr id="278" name="Google Shape;278;g208cba9ff31_1_0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9" name="Google Shape;279;g208cba9ff31_1_0"/>
          <p:cNvSpPr txBox="1"/>
          <p:nvPr>
            <p:ph idx="2" type="body"/>
          </p:nvPr>
        </p:nvSpPr>
        <p:spPr>
          <a:xfrm>
            <a:off x="954088" y="1618596"/>
            <a:ext cx="10442918" cy="4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You should finish your homework on your own.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Do not share your codes with any living creatures.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Your HW will get 0 pt if you violate any of the above rules. </a:t>
            </a:r>
            <a:endParaRPr sz="2400">
              <a:solidFill>
                <a:schemeClr val="accent1"/>
              </a:solidFill>
            </a:endParaRPr>
          </a:p>
          <a:p>
            <a:pPr indent="-342900" lvl="0" marL="5715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/>
              <a:buChar char="•"/>
            </a:pPr>
            <a:r>
              <a:rPr b="1" lang="zh-TW" sz="2400">
                <a:solidFill>
                  <a:schemeClr val="accent1"/>
                </a:solidFill>
              </a:rPr>
              <a:t>Professor &amp; TAs preserve the rights to change the rules &amp; grades.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280" name="Google Shape;280;g208cba9ff31_1_0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2"/>
          <p:cNvSpPr txBox="1"/>
          <p:nvPr>
            <p:ph type="ctrTitle"/>
          </p:nvPr>
        </p:nvSpPr>
        <p:spPr>
          <a:xfrm>
            <a:off x="967109" y="2419102"/>
            <a:ext cx="10191320" cy="574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Microsoft JhengHei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286" name="Google Shape;286;p62"/>
          <p:cNvSpPr txBox="1"/>
          <p:nvPr>
            <p:ph idx="1" type="body"/>
          </p:nvPr>
        </p:nvSpPr>
        <p:spPr>
          <a:xfrm>
            <a:off x="1242282" y="6207371"/>
            <a:ext cx="10369910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zh-TW"/>
              <a:t>章節07</a:t>
            </a:r>
            <a:endParaRPr/>
          </a:p>
        </p:txBody>
      </p:sp>
      <p:sp>
        <p:nvSpPr>
          <p:cNvPr id="287" name="Google Shape;287;p62"/>
          <p:cNvSpPr txBox="1"/>
          <p:nvPr>
            <p:ph idx="2" type="body"/>
          </p:nvPr>
        </p:nvSpPr>
        <p:spPr>
          <a:xfrm>
            <a:off x="966788" y="808035"/>
            <a:ext cx="3748087" cy="1030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None/>
            </a:pPr>
            <a:r>
              <a:rPr lang="zh-TW"/>
              <a:t>05</a:t>
            </a:r>
            <a:endParaRPr/>
          </a:p>
        </p:txBody>
      </p:sp>
      <p:sp>
        <p:nvSpPr>
          <p:cNvPr id="288" name="Google Shape;288;p62"/>
          <p:cNvSpPr txBox="1"/>
          <p:nvPr>
            <p:ph idx="12" type="sldNum"/>
          </p:nvPr>
        </p:nvSpPr>
        <p:spPr>
          <a:xfrm>
            <a:off x="677505" y="6196171"/>
            <a:ext cx="564777" cy="2348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9" name="Google Shape;289;p62"/>
          <p:cNvSpPr txBox="1"/>
          <p:nvPr>
            <p:ph idx="3" type="body"/>
          </p:nvPr>
        </p:nvSpPr>
        <p:spPr>
          <a:xfrm>
            <a:off x="967109" y="3124542"/>
            <a:ext cx="10191320" cy="189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ulish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08cba9ff31_2_5"/>
          <p:cNvSpPr txBox="1"/>
          <p:nvPr>
            <p:ph type="ctrTitle"/>
          </p:nvPr>
        </p:nvSpPr>
        <p:spPr>
          <a:xfrm>
            <a:off x="953359" y="824935"/>
            <a:ext cx="8747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zh-TW"/>
              <a:t>助教聯絡資訊</a:t>
            </a:r>
            <a:endParaRPr/>
          </a:p>
        </p:txBody>
      </p:sp>
      <p:sp>
        <p:nvSpPr>
          <p:cNvPr id="296" name="Google Shape;296;g208cba9ff31_2_5"/>
          <p:cNvSpPr txBox="1"/>
          <p:nvPr>
            <p:ph idx="1" type="body"/>
          </p:nvPr>
        </p:nvSpPr>
        <p:spPr>
          <a:xfrm>
            <a:off x="1242282" y="6207371"/>
            <a:ext cx="10369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97" name="Google Shape;297;g208cba9ff31_2_5"/>
          <p:cNvSpPr txBox="1"/>
          <p:nvPr>
            <p:ph idx="2" type="body"/>
          </p:nvPr>
        </p:nvSpPr>
        <p:spPr>
          <a:xfrm>
            <a:off x="954088" y="1618596"/>
            <a:ext cx="10102800" cy="4089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68580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SzPts val="2700"/>
              <a:buFont typeface="Arial"/>
              <a:buChar char="•"/>
            </a:pPr>
            <a:r>
              <a:rPr lang="zh-TW"/>
              <a:t>TA Email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胡凱翔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/>
              </a:rPr>
              <a:t>t114598018@ntut.org.tw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1" marL="10287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Email 標題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48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請按照此格式(X為作業編號) : [-hw0X-學號]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-342900" lvl="2" marL="14859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zh-TW">
                <a:latin typeface="Microsoft JhengHei"/>
                <a:ea typeface="Microsoft JhengHei"/>
                <a:cs typeface="Microsoft JhengHei"/>
                <a:sym typeface="Microsoft JhengHei"/>
              </a:rPr>
              <a:t>例如：-hw01-114598001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8" name="Google Shape;298;g208cba9ff31_2_5"/>
          <p:cNvSpPr txBox="1"/>
          <p:nvPr>
            <p:ph idx="12" type="sldNum"/>
          </p:nvPr>
        </p:nvSpPr>
        <p:spPr>
          <a:xfrm>
            <a:off x="677505" y="6196171"/>
            <a:ext cx="5649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zh-TW"/>
              <a:t>P.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章節頁_章節N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首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內容頁">
  <a:themeElements>
    <a:clrScheme name="新興智慧顯示科技應用">
      <a:dk1>
        <a:srgbClr val="000000"/>
      </a:dk1>
      <a:lt1>
        <a:srgbClr val="FFFFFF"/>
      </a:lt1>
      <a:dk2>
        <a:srgbClr val="5C5C5C"/>
      </a:dk2>
      <a:lt2>
        <a:srgbClr val="E7E6E6"/>
      </a:lt2>
      <a:accent1>
        <a:srgbClr val="7B67E6"/>
      </a:accent1>
      <a:accent2>
        <a:srgbClr val="432FA6"/>
      </a:accent2>
      <a:accent3>
        <a:srgbClr val="ED2C39"/>
      </a:accent3>
      <a:accent4>
        <a:srgbClr val="FFC000"/>
      </a:accent4>
      <a:accent5>
        <a:srgbClr val="429AEB"/>
      </a:accent5>
      <a:accent6>
        <a:srgbClr val="3CA43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2021-11-03T01:57:43Z</dcterms:created>
  <dc:creator>Microsoft Office User</dc:creator>
</cp:coreProperties>
</file>