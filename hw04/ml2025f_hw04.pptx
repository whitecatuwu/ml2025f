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2" r:id="rId5"/>
    <p:sldMasterId id="2147483656" r:id="rId6"/>
    <p:sldMasterId id="214748366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y="6858000" cx="12192000"/>
  <p:notesSz cx="6858000" cy="9144000"/>
  <p:embeddedFontLst>
    <p:embeddedFont>
      <p:font typeface="Mulish ExtraLight"/>
      <p:regular r:id="rId29"/>
      <p:bold r:id="rId30"/>
      <p:italic r:id="rId31"/>
      <p:boldItalic r:id="rId32"/>
    </p:embeddedFont>
    <p:embeddedFont>
      <p:font typeface="Mulish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59">
          <p15:clr>
            <a:srgbClr val="A4A3A4"/>
          </p15:clr>
        </p15:guide>
        <p15:guide id="2" pos="597">
          <p15:clr>
            <a:srgbClr val="A4A3A4"/>
          </p15:clr>
        </p15:guide>
        <p15:guide id="3" pos="6947">
          <p15:clr>
            <a:srgbClr val="A4A3A4"/>
          </p15:clr>
        </p15:guide>
        <p15:guide id="4" orient="horz" pos="3589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jRh77DXPlH3H6J6gk/6jpSUs/0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9" orient="horz"/>
        <p:guide pos="597"/>
        <p:guide pos="6947"/>
        <p:guide pos="358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MulishExtraLight-regular.fnt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font" Target="fonts/MulishExtraLight-italic.fntdata"/><Relationship Id="rId30" Type="http://schemas.openxmlformats.org/officeDocument/2006/relationships/font" Target="fonts/MulishExtraLight-bold.fntdata"/><Relationship Id="rId11" Type="http://schemas.openxmlformats.org/officeDocument/2006/relationships/slide" Target="slides/slide3.xml"/><Relationship Id="rId33" Type="http://schemas.openxmlformats.org/officeDocument/2006/relationships/font" Target="fonts/Mulish-regular.fntdata"/><Relationship Id="rId10" Type="http://schemas.openxmlformats.org/officeDocument/2006/relationships/slide" Target="slides/slide2.xml"/><Relationship Id="rId32" Type="http://schemas.openxmlformats.org/officeDocument/2006/relationships/font" Target="fonts/MulishExtraLight-boldItalic.fntdata"/><Relationship Id="rId13" Type="http://schemas.openxmlformats.org/officeDocument/2006/relationships/slide" Target="slides/slide5.xml"/><Relationship Id="rId35" Type="http://schemas.openxmlformats.org/officeDocument/2006/relationships/font" Target="fonts/Mulish-italic.fntdata"/><Relationship Id="rId12" Type="http://schemas.openxmlformats.org/officeDocument/2006/relationships/slide" Target="slides/slide4.xml"/><Relationship Id="rId34" Type="http://schemas.openxmlformats.org/officeDocument/2006/relationships/font" Target="fonts/Mulish-bold.fntdata"/><Relationship Id="rId15" Type="http://schemas.openxmlformats.org/officeDocument/2006/relationships/slide" Target="slides/slide7.xml"/><Relationship Id="rId37" Type="http://customschemas.google.com/relationships/presentationmetadata" Target="metadata"/><Relationship Id="rId14" Type="http://schemas.openxmlformats.org/officeDocument/2006/relationships/slide" Target="slides/slide6.xml"/><Relationship Id="rId36" Type="http://schemas.openxmlformats.org/officeDocument/2006/relationships/font" Target="fonts/Mulish-bold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91017960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791017960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27910179600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510a4e5f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2f510a4e5f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ac8c0ce3a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9ac8c0ce3a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afbfd3944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9afbfd3944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af427d3a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9af427d3a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ac5d99a93_2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9ac5d99a93_2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afbfd3944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9afbfd3944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3" name="Google Shape;203;g39afbfd3944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afbfd3944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9afbfd394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8" name="Google Shape;218;g39afbfd3944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afbfd394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9afbfd394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ac5d99a93_2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g39ac5d99a93_2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ac5d99a93_2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9ac5d99a93_2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11f23a0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311f23a0b7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08cba9ff3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208cba9ff3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208cba9ff3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08cba9ff31_2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208cba9ff31_2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208cba9ff31_2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/>
          <p:nvPr>
            <p:ph type="ctrTitle"/>
          </p:nvPr>
        </p:nvSpPr>
        <p:spPr>
          <a:xfrm>
            <a:off x="967109" y="2274495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" type="body"/>
          </p:nvPr>
        </p:nvSpPr>
        <p:spPr>
          <a:xfrm>
            <a:off x="967109" y="3007096"/>
            <a:ext cx="10191320" cy="115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967109" y="2141506"/>
            <a:ext cx="6356480" cy="1886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2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967109" y="2162200"/>
            <a:ext cx="6356480" cy="185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8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" name="Google Shape;29;p31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" name="Google Shape;32;p67"/>
          <p:cNvSpPr txBox="1"/>
          <p:nvPr>
            <p:ph type="ctrTitle"/>
          </p:nvPr>
        </p:nvSpPr>
        <p:spPr>
          <a:xfrm>
            <a:off x="966788" y="2241418"/>
            <a:ext cx="635648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67"/>
          <p:cNvSpPr txBox="1"/>
          <p:nvPr>
            <p:ph idx="1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7"/>
          <p:cNvSpPr txBox="1"/>
          <p:nvPr>
            <p:ph idx="2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8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" name="Google Shape;37;p68"/>
          <p:cNvSpPr txBox="1"/>
          <p:nvPr>
            <p:ph idx="1" type="body"/>
          </p:nvPr>
        </p:nvSpPr>
        <p:spPr>
          <a:xfrm>
            <a:off x="967109" y="2246089"/>
            <a:ext cx="6356480" cy="25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8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8"/>
          <p:cNvSpPr txBox="1"/>
          <p:nvPr>
            <p:ph idx="3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1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/>
          <p:nvPr>
            <p:ph idx="2" type="pic"/>
          </p:nvPr>
        </p:nvSpPr>
        <p:spPr>
          <a:xfrm>
            <a:off x="0" y="0"/>
            <a:ext cx="1200351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2"/>
          <p:cNvSpPr txBox="1"/>
          <p:nvPr>
            <p:ph idx="2" type="body"/>
          </p:nvPr>
        </p:nvSpPr>
        <p:spPr>
          <a:xfrm>
            <a:off x="954088" y="1578855"/>
            <a:ext cx="10102795" cy="413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4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4"/>
          <p:cNvSpPr txBox="1"/>
          <p:nvPr>
            <p:ph type="ctrTitle"/>
          </p:nvPr>
        </p:nvSpPr>
        <p:spPr>
          <a:xfrm>
            <a:off x="953359" y="359005"/>
            <a:ext cx="10455376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5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" name="Google Shape;63;p25"/>
          <p:cNvSpPr txBox="1"/>
          <p:nvPr>
            <p:ph type="ctrTitle"/>
          </p:nvPr>
        </p:nvSpPr>
        <p:spPr>
          <a:xfrm>
            <a:off x="953359" y="360637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ac5d99a93_2_262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g39ac5d99a93_2_262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9ac5d99a93_2_262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g39ac5d99a93_2_26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">
  <p:cSld name="內容頁_僅中文標題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c5d99a93_2_267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9ac5d99a93_2_267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g39ac5d99a93_2_26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ac5d99a93_2_271"/>
          <p:cNvSpPr txBox="1"/>
          <p:nvPr>
            <p:ph type="ctrTitle"/>
          </p:nvPr>
        </p:nvSpPr>
        <p:spPr>
          <a:xfrm>
            <a:off x="953359" y="728685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9ac5d99a93_2_27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9ac5d99a93_2_271"/>
          <p:cNvSpPr txBox="1"/>
          <p:nvPr>
            <p:ph idx="2" type="body"/>
          </p:nvPr>
        </p:nvSpPr>
        <p:spPr>
          <a:xfrm>
            <a:off x="954088" y="1578855"/>
            <a:ext cx="10102800" cy="4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9ac5d99a93_2_27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c5d99a93_2_276"/>
          <p:cNvSpPr/>
          <p:nvPr>
            <p:ph idx="2" type="pic"/>
          </p:nvPr>
        </p:nvSpPr>
        <p:spPr>
          <a:xfrm>
            <a:off x="0" y="0"/>
            <a:ext cx="12003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g39ac5d99a93_2_276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ac5d99a93_2_279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g39ac5d99a93_2_279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9ac5d99a93_2_279"/>
          <p:cNvSpPr txBox="1"/>
          <p:nvPr>
            <p:ph type="ctrTitle"/>
          </p:nvPr>
        </p:nvSpPr>
        <p:spPr>
          <a:xfrm>
            <a:off x="953359" y="359005"/>
            <a:ext cx="10455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g39ac5d99a93_2_27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ac5d99a93_2_284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g39ac5d99a93_2_284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9ac5d99a93_2_28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8" name="Google Shape;98;g39ac5d99a93_2_284"/>
          <p:cNvSpPr txBox="1"/>
          <p:nvPr>
            <p:ph type="ctrTitle"/>
          </p:nvPr>
        </p:nvSpPr>
        <p:spPr>
          <a:xfrm>
            <a:off x="953359" y="360637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c5d99a93_2_289"/>
          <p:cNvSpPr txBox="1"/>
          <p:nvPr>
            <p:ph type="ctrTitle"/>
          </p:nvPr>
        </p:nvSpPr>
        <p:spPr>
          <a:xfrm>
            <a:off x="953359" y="728685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g39ac5d99a93_2_289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g39ac5d99a93_2_28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c5d99a93_2_293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g39ac5d99a93_2_293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中文標題 1">
  <p:cSld name="1_內容頁_僅中文標題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ac5d99a93_2_296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g39ac5d99a93_2_296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g39ac5d99a93_2_296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hyperlink" Target="https://drive.google.com/drive/folders/1RQ3VuUm4kdfk4VEW0WD3FjUuuWfRxXnh?usp=drive_link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lab.research.google.com/drive/12762pH24et3KFxZnZhYb48ENZxUQXd-0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yeh-chun-yu.github.io/ml2025f/hw04/index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mailto:t114598000@ntut.org.tw" TargetMode="External"/><Relationship Id="rId4" Type="http://schemas.openxmlformats.org/officeDocument/2006/relationships/hyperlink" Target="https://yeh-chun-yu.github.io/ml2025f/hw04/index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olab.research.google.com/drive/1TwFV2AxEOiFKRLlmgly4uG3KdjmkgY2x?usp=sharing" TargetMode="External"/><Relationship Id="rId4" Type="http://schemas.openxmlformats.org/officeDocument/2006/relationships/hyperlink" Target="https://yeh-chun-yu.github.io/ml2025f/hw04/index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%E4%BD%A0%E7%9A%84%E5%B8%B3%E8%99%9F/ml2025f/hw01/" TargetMode="External"/><Relationship Id="rId4" Type="http://schemas.openxmlformats.org/officeDocument/2006/relationships/hyperlink" Target="https://github.com/%E4%BD%A0%E7%9A%84%E5%B8%B3%E8%99%9F/ml2025f/hw01/" TargetMode="External"/><Relationship Id="rId5" Type="http://schemas.openxmlformats.org/officeDocument/2006/relationships/hyperlink" Target="https://github.com/%E4%BD%A0%E7%9A%84%E5%B8%B3%E8%99%9F/ml2025f/hw01/" TargetMode="External"/><Relationship Id="rId6" Type="http://schemas.openxmlformats.org/officeDocument/2006/relationships/hyperlink" Target="https://github.com/%E4%BD%A0%E7%9A%84%E5%B8%B3%E8%99%9F/ml2025f/hw01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hyperlink" Target="mailto:t112598016@ntut.org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967109" y="2274495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 sz="3200"/>
              <a:t>機器學習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967109" y="3007096"/>
            <a:ext cx="10191320" cy="115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rPr lang="zh-TW"/>
              <a:t>HW0</a:t>
            </a:r>
            <a:r>
              <a:rPr lang="zh-TW"/>
              <a:t>4 － 主動脈瓣物件偵測(資料標註)</a:t>
            </a:r>
            <a:endParaRPr/>
          </a:p>
        </p:txBody>
      </p:sp>
      <p:sp>
        <p:nvSpPr>
          <p:cNvPr id="116" name="Google Shape;116;p6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教師</a:t>
            </a:r>
            <a:endParaRPr/>
          </a:p>
        </p:txBody>
      </p:sp>
      <p:sp>
        <p:nvSpPr>
          <p:cNvPr id="117" name="Google Shape;117;p6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國立臺北科技大學資訊工程系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23" name="Google Shape;123;p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24" name="Google Shape;124;p2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01</a:t>
            </a:r>
            <a:endParaRPr/>
          </a:p>
        </p:txBody>
      </p:sp>
      <p:sp>
        <p:nvSpPr>
          <p:cNvPr id="125" name="Google Shape;125;p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6" name="Google Shape;126;p2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32" name="Google Shape;132;p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3" name="Google Shape;133;p1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zh-TW"/>
              <a:t>評分標準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Char char="•"/>
            </a:pPr>
            <a:r>
              <a:rPr lang="zh-TW"/>
              <a:t>作業說明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Char char="•"/>
            </a:pPr>
            <a:r>
              <a:rPr lang="zh-TW"/>
              <a:t>繳交資訊</a:t>
            </a:r>
            <a:endParaRPr/>
          </a:p>
        </p:txBody>
      </p:sp>
      <p:sp>
        <p:nvSpPr>
          <p:cNvPr id="134" name="Google Shape;134;p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10179600_0_4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評分標準</a:t>
            </a:r>
            <a:endParaRPr/>
          </a:p>
        </p:txBody>
      </p:sp>
      <p:sp>
        <p:nvSpPr>
          <p:cNvPr id="141" name="Google Shape;141;g27910179600_0_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42" name="Google Shape;142;g27910179600_0_4"/>
          <p:cNvSpPr txBox="1"/>
          <p:nvPr>
            <p:ph idx="2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5800"/>
              <a:buNone/>
            </a:pPr>
            <a:r>
              <a:rPr lang="zh-TW"/>
              <a:t>02</a:t>
            </a:r>
            <a:endParaRPr/>
          </a:p>
        </p:txBody>
      </p:sp>
      <p:sp>
        <p:nvSpPr>
          <p:cNvPr id="143" name="Google Shape;143;g27910179600_0_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4" name="Google Shape;144;g27910179600_0_4"/>
          <p:cNvSpPr txBox="1"/>
          <p:nvPr>
            <p:ph idx="3" type="body"/>
          </p:nvPr>
        </p:nvSpPr>
        <p:spPr>
          <a:xfrm>
            <a:off x="967109" y="3124542"/>
            <a:ext cx="101913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510a4e5fe_0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評分標準</a:t>
            </a:r>
            <a:endParaRPr/>
          </a:p>
        </p:txBody>
      </p:sp>
      <p:sp>
        <p:nvSpPr>
          <p:cNvPr id="150" name="Google Shape;150;g2f510a4e5fe_0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1" name="Google Shape;151;g2f510a4e5fe_0_0"/>
          <p:cNvSpPr txBox="1"/>
          <p:nvPr>
            <p:ph idx="2" type="body"/>
          </p:nvPr>
        </p:nvSpPr>
        <p:spPr>
          <a:xfrm>
            <a:off x="947750" y="1556288"/>
            <a:ext cx="10102800" cy="45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Simple baseline (4pt)</a:t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Medium baseline (4pt)</a:t>
            </a:r>
            <a:endParaRPr b="1"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Strong baseline (2pt)</a:t>
            </a:r>
            <a:endParaRPr b="1" sz="2400">
              <a:solidFill>
                <a:srgbClr val="7030A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2" name="Google Shape;152;g2f510a4e5fe_0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9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作業說明</a:t>
            </a:r>
            <a:endParaRPr/>
          </a:p>
        </p:txBody>
      </p:sp>
      <p:sp>
        <p:nvSpPr>
          <p:cNvPr id="158" name="Google Shape;158;p39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59" name="Google Shape;159;p39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160" name="Google Shape;160;p39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1" name="Google Shape;161;p39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9ac8c0ce3a_2_0"/>
          <p:cNvPicPr preferRelativeResize="0"/>
          <p:nvPr/>
        </p:nvPicPr>
        <p:blipFill rotWithShape="1">
          <a:blip r:embed="rId3">
            <a:alphaModFix/>
          </a:blip>
          <a:srcRect b="40992" l="0" r="0" t="0"/>
          <a:stretch/>
        </p:blipFill>
        <p:spPr>
          <a:xfrm>
            <a:off x="2487375" y="3455100"/>
            <a:ext cx="6600825" cy="11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9ac8c0ce3a_2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CT 資料下載 06_ct.nii.gz (233切)</a:t>
            </a:r>
            <a:endParaRPr/>
          </a:p>
        </p:txBody>
      </p:sp>
      <p:sp>
        <p:nvSpPr>
          <p:cNvPr id="168" name="Google Shape;168;g39ac8c0ce3a_2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9" name="Google Shape;169;g39ac8c0ce3a_2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0" name="Google Shape;170;g39ac8c0ce3a_2_0"/>
          <p:cNvSpPr txBox="1"/>
          <p:nvPr>
            <p:ph idx="2" type="body"/>
          </p:nvPr>
        </p:nvSpPr>
        <p:spPr>
          <a:xfrm>
            <a:off x="954100" y="1618598"/>
            <a:ext cx="101028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TW" sz="2400"/>
              <a:t>下載連結:</a:t>
            </a:r>
            <a:r>
              <a:rPr lang="zh-TW" sz="2400" u="sng">
                <a:solidFill>
                  <a:schemeClr val="hlink"/>
                </a:solidFill>
                <a:hlinkClick r:id="rId4"/>
              </a:rPr>
              <a:t>https://drive.google.com/drive/folders/1RQ3VuUm4kdfk4VEW0WD3FjUuuWfRxXnh?usp=drive_link</a:t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71" name="Google Shape;171;g39ac8c0ce3a_2_0"/>
          <p:cNvSpPr txBox="1"/>
          <p:nvPr/>
        </p:nvSpPr>
        <p:spPr>
          <a:xfrm>
            <a:off x="6280461" y="4266103"/>
            <a:ext cx="23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這一份是原始CT檔案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afbfd3944_0_2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CT 資料</a:t>
            </a:r>
            <a:r>
              <a:rPr lang="zh-TW"/>
              <a:t>輸出成 .dcm</a:t>
            </a:r>
            <a:r>
              <a:rPr lang="zh-TW"/>
              <a:t> (233切)</a:t>
            </a:r>
            <a:endParaRPr/>
          </a:p>
        </p:txBody>
      </p:sp>
      <p:sp>
        <p:nvSpPr>
          <p:cNvPr id="177" name="Google Shape;177;g39afbfd3944_0_2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8" name="Google Shape;178;g39afbfd3944_0_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79" name="Google Shape;179;g39afbfd3944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1535"/>
            <a:ext cx="5381625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9afbfd3944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6425" y="1551535"/>
            <a:ext cx="4762006" cy="450343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9afbfd3944_0_2"/>
          <p:cNvSpPr txBox="1"/>
          <p:nvPr/>
        </p:nvSpPr>
        <p:spPr>
          <a:xfrm>
            <a:off x="10545381" y="5403425"/>
            <a:ext cx="114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輸出路徑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af427d3a5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9af427d3a5_0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188" name="Google Shape;188;g39af427d3a5_0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9" name="Google Shape;189;g39af427d3a5_0_0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將06_ct.nii.gz 透過3D Slicer 還原成233切的 .dcm檔</a:t>
            </a:r>
            <a:endParaRPr b="1" sz="2400">
              <a:solidFill>
                <a:srgbClr val="00B05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將第111~153切(IMG0111.dcm~IMG0153.dcm)含有主動脈瓣的 .dcm壓縮成 </a:t>
            </a:r>
            <a:r>
              <a:rPr b="1" lang="zh-TW" sz="2400">
                <a:solidFill>
                  <a:srgbClr val="FF0000"/>
                </a:solidFill>
              </a:rPr>
              <a:t>dcm.zip</a:t>
            </a:r>
            <a:r>
              <a:rPr b="1" lang="zh-TW" sz="2400">
                <a:solidFill>
                  <a:srgbClr val="00B050"/>
                </a:solidFill>
              </a:rPr>
              <a:t> 透過下方 Colab 轉成 .png檔</a:t>
            </a:r>
            <a:endParaRPr b="1" sz="2400">
              <a:solidFill>
                <a:srgbClr val="00B05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00B050"/>
                </a:solidFill>
              </a:rPr>
              <a:t>Colab 連結 : </a:t>
            </a:r>
            <a:r>
              <a:rPr b="1" lang="zh-TW" sz="2400" u="sng">
                <a:solidFill>
                  <a:schemeClr val="hlink"/>
                </a:solidFill>
                <a:hlinkClick r:id="rId3"/>
              </a:rPr>
              <a:t>https://colab.research.google.com/drive/12762pH24et3KFxZnZhYb48ENZxUQXd-0?usp=sharing</a:t>
            </a:r>
            <a:endParaRPr b="1" sz="2400">
              <a:solidFill>
                <a:srgbClr val="00B05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使用 Labelme </a:t>
            </a:r>
            <a:r>
              <a:rPr b="1" lang="zh-TW" sz="2400" u="sng">
                <a:solidFill>
                  <a:srgbClr val="00B050"/>
                </a:solidFill>
              </a:rPr>
              <a:t>內建基本功能</a:t>
            </a:r>
            <a:r>
              <a:rPr b="1" lang="zh-TW" sz="2400">
                <a:solidFill>
                  <a:srgbClr val="00B050"/>
                </a:solidFill>
              </a:rPr>
              <a:t> </a:t>
            </a:r>
            <a:r>
              <a:rPr b="1" lang="zh-TW" sz="2400">
                <a:solidFill>
                  <a:srgbClr val="FF0000"/>
                </a:solidFill>
              </a:rPr>
              <a:t>Create Rectangle</a:t>
            </a:r>
            <a:r>
              <a:rPr b="1" lang="zh-TW" sz="2400">
                <a:solidFill>
                  <a:srgbClr val="00B050"/>
                </a:solidFill>
              </a:rPr>
              <a:t>，對 .png檔進行手動</a:t>
            </a:r>
            <a:r>
              <a:rPr b="1" lang="zh-TW" sz="2400" u="sng">
                <a:solidFill>
                  <a:srgbClr val="00B050"/>
                </a:solidFill>
              </a:rPr>
              <a:t>主動脈瓣</a:t>
            </a:r>
            <a:r>
              <a:rPr b="1" lang="zh-TW" sz="2400">
                <a:solidFill>
                  <a:srgbClr val="00B050"/>
                </a:solidFill>
              </a:rPr>
              <a:t>標註。</a:t>
            </a:r>
            <a:endParaRPr b="1" sz="2400">
              <a:solidFill>
                <a:srgbClr val="00B050"/>
              </a:solidFill>
            </a:endParaRPr>
          </a:p>
        </p:txBody>
      </p:sp>
      <p:sp>
        <p:nvSpPr>
          <p:cNvPr id="190" name="Google Shape;190;g39af427d3a5_0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ac5d99a93_2_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9ac5d99a93_2_44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endParaRPr/>
          </a:p>
        </p:txBody>
      </p:sp>
      <p:sp>
        <p:nvSpPr>
          <p:cNvPr id="197" name="Google Shape;197;g39ac5d99a93_2_4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8" name="Google Shape;198;g39ac5d99a93_2_44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限用北科大 Gmail 帳號(t114598xxx@ntut.org.tw)登入YouTube。</a:t>
            </a:r>
            <a:endParaRPr b="1" sz="2400">
              <a:solidFill>
                <a:srgbClr val="00B05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將</a:t>
            </a:r>
            <a:r>
              <a:rPr b="1" lang="zh-TW" sz="2400" u="sng">
                <a:solidFill>
                  <a:srgbClr val="00B050"/>
                </a:solidFill>
              </a:rPr>
              <a:t>標註過程</a:t>
            </a:r>
            <a:r>
              <a:rPr b="1" lang="zh-TW" sz="2400">
                <a:solidFill>
                  <a:srgbClr val="00B050"/>
                </a:solidFill>
              </a:rPr>
              <a:t>全程錄影，然後將影片上傳到 YouTube (或是直播到YouTube)。</a:t>
            </a:r>
            <a:endParaRPr b="1" sz="2400">
              <a:solidFill>
                <a:srgbClr val="00B050"/>
              </a:solidFill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繳交範例請見 </a:t>
            </a:r>
            <a:endParaRPr b="1" sz="2400">
              <a:solidFill>
                <a:srgbClr val="00B05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 u="sng">
                <a:solidFill>
                  <a:schemeClr val="hlink"/>
                </a:solidFill>
                <a:hlinkClick r:id="rId3"/>
              </a:rPr>
              <a:t>https://yeh-chun-yu.github.io/ml2025f/hw04/index.html</a:t>
            </a:r>
            <a:endParaRPr b="1" sz="2400">
              <a:solidFill>
                <a:srgbClr val="00B050"/>
              </a:solidFill>
            </a:endParaRPr>
          </a:p>
        </p:txBody>
      </p:sp>
      <p:sp>
        <p:nvSpPr>
          <p:cNvPr id="199" name="Google Shape;199;g39ac5d99a93_2_4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afbfd3944_0_105"/>
          <p:cNvSpPr txBox="1"/>
          <p:nvPr>
            <p:ph type="ctrTitle"/>
          </p:nvPr>
        </p:nvSpPr>
        <p:spPr>
          <a:xfrm>
            <a:off x="38959" y="62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使用 3D Slicer</a:t>
            </a:r>
            <a:r>
              <a:rPr lang="zh-TW"/>
              <a:t> </a:t>
            </a:r>
            <a:r>
              <a:rPr lang="zh-TW"/>
              <a:t>擷取</a:t>
            </a:r>
            <a:r>
              <a:rPr lang="zh-TW">
                <a:solidFill>
                  <a:srgbClr val="FF0000"/>
                </a:solidFill>
              </a:rPr>
              <a:t>主動脈瓣</a:t>
            </a:r>
            <a:r>
              <a:rPr lang="zh-TW"/>
              <a:t>圖片</a:t>
            </a:r>
            <a:endParaRPr/>
          </a:p>
        </p:txBody>
      </p:sp>
      <p:sp>
        <p:nvSpPr>
          <p:cNvPr id="206" name="Google Shape;206;g39afbfd3944_0_10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7" name="Google Shape;207;g39afbfd3944_0_10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08" name="Google Shape;208;g39afbfd3944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50" y="611900"/>
            <a:ext cx="11227551" cy="600867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9afbfd3944_0_105"/>
          <p:cNvSpPr/>
          <p:nvPr/>
        </p:nvSpPr>
        <p:spPr>
          <a:xfrm>
            <a:off x="1216659" y="3409468"/>
            <a:ext cx="621900" cy="643500"/>
          </a:xfrm>
          <a:prstGeom prst="ellipse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4941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9afbfd3944_0_105"/>
          <p:cNvSpPr/>
          <p:nvPr/>
        </p:nvSpPr>
        <p:spPr>
          <a:xfrm>
            <a:off x="2472559" y="3483257"/>
            <a:ext cx="757800" cy="771600"/>
          </a:xfrm>
          <a:prstGeom prst="ellipse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accent2">
                <a:alpha val="4941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9afbfd3944_0_105"/>
          <p:cNvSpPr txBox="1"/>
          <p:nvPr/>
        </p:nvSpPr>
        <p:spPr>
          <a:xfrm>
            <a:off x="949659" y="5031655"/>
            <a:ext cx="12435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Utilities</a:t>
            </a:r>
            <a:endParaRPr b="0" i="0" sz="23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2" name="Google Shape;212;g39afbfd3944_0_105"/>
          <p:cNvSpPr txBox="1"/>
          <p:nvPr/>
        </p:nvSpPr>
        <p:spPr>
          <a:xfrm>
            <a:off x="2520184" y="5008805"/>
            <a:ext cx="23319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Screen Capture</a:t>
            </a:r>
            <a:endParaRPr b="0" i="0" sz="23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213" name="Google Shape;213;g39afbfd3944_0_105"/>
          <p:cNvCxnSpPr/>
          <p:nvPr/>
        </p:nvCxnSpPr>
        <p:spPr>
          <a:xfrm>
            <a:off x="2850109" y="4348030"/>
            <a:ext cx="300" cy="567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g39afbfd3944_0_105"/>
          <p:cNvCxnSpPr/>
          <p:nvPr/>
        </p:nvCxnSpPr>
        <p:spPr>
          <a:xfrm flipH="1">
            <a:off x="1526259" y="4218343"/>
            <a:ext cx="1200" cy="81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afbfd3944_0_36"/>
          <p:cNvSpPr txBox="1"/>
          <p:nvPr>
            <p:ph type="ctrTitle"/>
          </p:nvPr>
        </p:nvSpPr>
        <p:spPr>
          <a:xfrm>
            <a:off x="38959" y="62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使用 3D Slicer 擷取</a:t>
            </a:r>
            <a:r>
              <a:rPr lang="zh-TW">
                <a:solidFill>
                  <a:srgbClr val="FF0000"/>
                </a:solidFill>
              </a:rPr>
              <a:t>主動脈瓣</a:t>
            </a:r>
            <a:r>
              <a:rPr lang="zh-TW"/>
              <a:t>圖片</a:t>
            </a:r>
            <a:endParaRPr/>
          </a:p>
        </p:txBody>
      </p:sp>
      <p:sp>
        <p:nvSpPr>
          <p:cNvPr id="221" name="Google Shape;221;g39afbfd3944_0_36"/>
          <p:cNvSpPr txBox="1"/>
          <p:nvPr>
            <p:ph idx="1" type="body"/>
          </p:nvPr>
        </p:nvSpPr>
        <p:spPr>
          <a:xfrm>
            <a:off x="1152181" y="6336087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2" name="Google Shape;222;g39afbfd3944_0_36"/>
          <p:cNvSpPr txBox="1"/>
          <p:nvPr>
            <p:ph idx="12" type="sldNum"/>
          </p:nvPr>
        </p:nvSpPr>
        <p:spPr>
          <a:xfrm>
            <a:off x="587404" y="6324887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sh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23" name="Google Shape;223;g39afbfd3944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62" y="614835"/>
            <a:ext cx="11612661" cy="6220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g39afbfd3944_0_36"/>
          <p:cNvCxnSpPr/>
          <p:nvPr/>
        </p:nvCxnSpPr>
        <p:spPr>
          <a:xfrm flipH="1" rot="10800000">
            <a:off x="3681786" y="1781989"/>
            <a:ext cx="675900" cy="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" name="Google Shape;225;g39afbfd3944_0_36"/>
          <p:cNvCxnSpPr/>
          <p:nvPr/>
        </p:nvCxnSpPr>
        <p:spPr>
          <a:xfrm flipH="1" rot="10800000">
            <a:off x="3681786" y="2066140"/>
            <a:ext cx="675900" cy="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" name="Google Shape;226;g39afbfd3944_0_36"/>
          <p:cNvCxnSpPr/>
          <p:nvPr/>
        </p:nvCxnSpPr>
        <p:spPr>
          <a:xfrm flipH="1" rot="10800000">
            <a:off x="3681786" y="2230322"/>
            <a:ext cx="675900" cy="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7" name="Google Shape;227;g39afbfd3944_0_36"/>
          <p:cNvCxnSpPr/>
          <p:nvPr/>
        </p:nvCxnSpPr>
        <p:spPr>
          <a:xfrm flipH="1" rot="10800000">
            <a:off x="3681786" y="2402563"/>
            <a:ext cx="675900" cy="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g39afbfd3944_0_36"/>
          <p:cNvCxnSpPr/>
          <p:nvPr/>
        </p:nvCxnSpPr>
        <p:spPr>
          <a:xfrm flipH="1" rot="10800000">
            <a:off x="3681786" y="2946539"/>
            <a:ext cx="675900" cy="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" name="Google Shape;229;g39afbfd3944_0_36"/>
          <p:cNvCxnSpPr/>
          <p:nvPr/>
        </p:nvCxnSpPr>
        <p:spPr>
          <a:xfrm flipH="1" rot="10800000">
            <a:off x="3344374" y="3752763"/>
            <a:ext cx="956400" cy="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" name="Google Shape;230;g39afbfd3944_0_36"/>
          <p:cNvCxnSpPr/>
          <p:nvPr/>
        </p:nvCxnSpPr>
        <p:spPr>
          <a:xfrm flipH="1" rot="10800000">
            <a:off x="3681786" y="3132464"/>
            <a:ext cx="675900" cy="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" name="Google Shape;231;g39afbfd3944_0_36"/>
          <p:cNvSpPr txBox="1"/>
          <p:nvPr/>
        </p:nvSpPr>
        <p:spPr>
          <a:xfrm>
            <a:off x="4504061" y="1449864"/>
            <a:ext cx="21267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選擇 Red view</a:t>
            </a:r>
            <a:endParaRPr b="0" i="0" sz="23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2" name="Google Shape;232;g39afbfd3944_0_36"/>
          <p:cNvSpPr txBox="1"/>
          <p:nvPr/>
        </p:nvSpPr>
        <p:spPr>
          <a:xfrm>
            <a:off x="4504061" y="1757070"/>
            <a:ext cx="25515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模式 : slice sweep</a:t>
            </a:r>
            <a:endParaRPr b="0" i="0" sz="23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3" name="Google Shape;233;g39afbfd3944_0_36"/>
          <p:cNvSpPr txBox="1"/>
          <p:nvPr/>
        </p:nvSpPr>
        <p:spPr>
          <a:xfrm>
            <a:off x="4504859" y="2026994"/>
            <a:ext cx="33309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開始的 frame : -15</a:t>
            </a:r>
            <a:r>
              <a:rPr lang="zh-TW" sz="23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  <a:r>
              <a:rPr lang="zh-TW" sz="23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b="0" i="0" sz="23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4" name="Google Shape;234;g39afbfd3944_0_36"/>
          <p:cNvSpPr txBox="1"/>
          <p:nvPr/>
        </p:nvSpPr>
        <p:spPr>
          <a:xfrm>
            <a:off x="4504061" y="2307419"/>
            <a:ext cx="36369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結束的 frame : -13</a:t>
            </a:r>
            <a:r>
              <a:rPr lang="zh-TW" sz="23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  <a:r>
              <a:rPr lang="zh-TW" sz="23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b="0" i="0" sz="23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5" name="Google Shape;235;g39afbfd3944_0_36"/>
          <p:cNvSpPr txBox="1"/>
          <p:nvPr/>
        </p:nvSpPr>
        <p:spPr>
          <a:xfrm>
            <a:off x="4504061" y="2663251"/>
            <a:ext cx="2960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輸出圖片張數 : </a:t>
            </a:r>
            <a:r>
              <a:rPr lang="zh-TW" sz="23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64</a:t>
            </a:r>
            <a:endParaRPr b="0" i="0" sz="23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6" name="Google Shape;236;g39afbfd3944_0_36"/>
          <p:cNvSpPr txBox="1"/>
          <p:nvPr/>
        </p:nvSpPr>
        <p:spPr>
          <a:xfrm>
            <a:off x="4504061" y="2955551"/>
            <a:ext cx="2960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輸出資料夾路徑</a:t>
            </a:r>
            <a:endParaRPr b="0" i="0" sz="23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7" name="Google Shape;237;g39afbfd3944_0_36"/>
          <p:cNvSpPr txBox="1"/>
          <p:nvPr/>
        </p:nvSpPr>
        <p:spPr>
          <a:xfrm>
            <a:off x="4440174" y="3446463"/>
            <a:ext cx="14382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Microsoft JhengHei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開始輸出</a:t>
            </a:r>
            <a:endParaRPr b="0" i="0" sz="2300" u="none" cap="none" strike="noStrike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8" name="Google Shape;238;g39afbfd3944_0_36"/>
          <p:cNvSpPr/>
          <p:nvPr/>
        </p:nvSpPr>
        <p:spPr>
          <a:xfrm>
            <a:off x="839174" y="1725891"/>
            <a:ext cx="2842500" cy="150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9afbfd3944_0_36"/>
          <p:cNvSpPr/>
          <p:nvPr/>
        </p:nvSpPr>
        <p:spPr>
          <a:xfrm>
            <a:off x="839174" y="1995191"/>
            <a:ext cx="2842500" cy="150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9afbfd3944_0_36"/>
          <p:cNvSpPr/>
          <p:nvPr/>
        </p:nvSpPr>
        <p:spPr>
          <a:xfrm>
            <a:off x="3269174" y="2147591"/>
            <a:ext cx="386700" cy="150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9afbfd3944_0_36"/>
          <p:cNvSpPr/>
          <p:nvPr/>
        </p:nvSpPr>
        <p:spPr>
          <a:xfrm>
            <a:off x="3270568" y="2299991"/>
            <a:ext cx="386700" cy="150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9afbfd3944_0_36"/>
          <p:cNvSpPr/>
          <p:nvPr/>
        </p:nvSpPr>
        <p:spPr>
          <a:xfrm>
            <a:off x="3295068" y="2891403"/>
            <a:ext cx="386700" cy="150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9afbfd3944_0_36"/>
          <p:cNvSpPr/>
          <p:nvPr/>
        </p:nvSpPr>
        <p:spPr>
          <a:xfrm>
            <a:off x="3511499" y="3055654"/>
            <a:ext cx="170400" cy="133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9afbfd3944_0_36"/>
          <p:cNvSpPr/>
          <p:nvPr/>
        </p:nvSpPr>
        <p:spPr>
          <a:xfrm>
            <a:off x="288822" y="3678066"/>
            <a:ext cx="3023700" cy="1509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9afbfd3944_0_36"/>
          <p:cNvSpPr txBox="1"/>
          <p:nvPr/>
        </p:nvSpPr>
        <p:spPr>
          <a:xfrm>
            <a:off x="3243825" y="2836638"/>
            <a:ext cx="43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>
                <a:highlight>
                  <a:schemeClr val="lt1"/>
                </a:highlight>
              </a:rPr>
              <a:t>64</a:t>
            </a:r>
            <a:endParaRPr sz="7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afbfd3944_0_21"/>
          <p:cNvSpPr txBox="1"/>
          <p:nvPr>
            <p:ph type="ctrTitle"/>
          </p:nvPr>
        </p:nvSpPr>
        <p:spPr>
          <a:xfrm>
            <a:off x="947759" y="9578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06_ct.nii.gz 擷取圖片(64張)</a:t>
            </a:r>
            <a:endParaRPr/>
          </a:p>
        </p:txBody>
      </p:sp>
      <p:sp>
        <p:nvSpPr>
          <p:cNvPr id="251" name="Google Shape;251;g39afbfd3944_0_2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52" name="Google Shape;252;g39afbfd3944_0_21"/>
          <p:cNvSpPr txBox="1"/>
          <p:nvPr>
            <p:ph idx="2" type="body"/>
          </p:nvPr>
        </p:nvSpPr>
        <p:spPr>
          <a:xfrm>
            <a:off x="947738" y="948571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TW" sz="2400"/>
              <a:t>06_ct.nii.gz 原本233切，其中只有</a:t>
            </a:r>
            <a:r>
              <a:rPr lang="zh-TW" sz="2400">
                <a:solidFill>
                  <a:srgbClr val="FF0000"/>
                </a:solidFill>
              </a:rPr>
              <a:t>43切(3D Slicer範圍-154.3~-133.3)</a:t>
            </a:r>
            <a:r>
              <a:rPr lang="zh-TW" sz="2400"/>
              <a:t>有出現主動脈瓣。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TW" sz="2400"/>
              <a:t>使用 3D Slicer </a:t>
            </a:r>
            <a:r>
              <a:rPr lang="zh-TW" sz="2400">
                <a:solidFill>
                  <a:srgbClr val="FF0000"/>
                </a:solidFill>
              </a:rPr>
              <a:t>43切 </a:t>
            </a:r>
            <a:r>
              <a:rPr lang="zh-TW" sz="2400" u="sng">
                <a:solidFill>
                  <a:srgbClr val="FF0000"/>
                </a:solidFill>
              </a:rPr>
              <a:t>內插</a:t>
            </a:r>
            <a:r>
              <a:rPr lang="zh-TW" sz="2400">
                <a:solidFill>
                  <a:srgbClr val="FF0000"/>
                </a:solidFill>
              </a:rPr>
              <a:t>成 64切 </a:t>
            </a:r>
            <a:r>
              <a:rPr lang="zh-TW" sz="2400"/>
              <a:t>:</a:t>
            </a:r>
            <a:endParaRPr sz="2400"/>
          </a:p>
        </p:txBody>
      </p:sp>
      <p:sp>
        <p:nvSpPr>
          <p:cNvPr id="253" name="Google Shape;253;g39afbfd3944_0_2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54" name="Google Shape;254;g39afbfd3944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038" y="2376275"/>
            <a:ext cx="6324826" cy="37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9ac5d99a93_2_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9ac5d99a93_2_83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FF0000"/>
                </a:solidFill>
              </a:rPr>
              <a:t>Medium baseline (4pt)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61" name="Google Shape;261;g39ac5d99a93_2_83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62" name="Google Shape;262;g39ac5d99a93_2_83"/>
          <p:cNvSpPr txBox="1"/>
          <p:nvPr>
            <p:ph idx="2" type="body"/>
          </p:nvPr>
        </p:nvSpPr>
        <p:spPr>
          <a:xfrm>
            <a:off x="954100" y="1560575"/>
            <a:ext cx="10102800" cy="4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限用北科大 Gmail 帳號(</a:t>
            </a:r>
            <a:r>
              <a:rPr b="1" lang="zh-TW" sz="2400" u="sng">
                <a:solidFill>
                  <a:schemeClr val="hlink"/>
                </a:solidFill>
                <a:hlinkClick r:id="rId3"/>
              </a:rPr>
              <a:t>t114598xxx@ntut.org.tw</a:t>
            </a:r>
            <a:r>
              <a:rPr b="1" lang="zh-TW" sz="2400">
                <a:solidFill>
                  <a:srgbClr val="FF0000"/>
                </a:solidFill>
              </a:rPr>
              <a:t>)登入YouTube。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使用 3D Slicer 擴充圖片至</a:t>
            </a:r>
            <a:r>
              <a:rPr b="1" lang="zh-TW" sz="2400" u="sng">
                <a:solidFill>
                  <a:schemeClr val="accent1"/>
                </a:solidFill>
              </a:rPr>
              <a:t>64</a:t>
            </a:r>
            <a:r>
              <a:rPr b="1" lang="zh-TW" sz="2400">
                <a:solidFill>
                  <a:srgbClr val="FF0000"/>
                </a:solidFill>
              </a:rPr>
              <a:t>張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將</a:t>
            </a:r>
            <a:r>
              <a:rPr b="1" lang="zh-TW" sz="2400" u="sng">
                <a:solidFill>
                  <a:srgbClr val="FF0000"/>
                </a:solidFill>
              </a:rPr>
              <a:t>標註過程</a:t>
            </a:r>
            <a:r>
              <a:rPr b="1" lang="zh-TW" sz="2400">
                <a:solidFill>
                  <a:srgbClr val="FF0000"/>
                </a:solidFill>
              </a:rPr>
              <a:t>全程錄影，然後將影片上傳到 YouTube (或是直播到YouTube)。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使用 Labelme </a:t>
            </a:r>
            <a:r>
              <a:rPr b="1" lang="zh-TW" sz="2400" u="sng">
                <a:solidFill>
                  <a:srgbClr val="FF0000"/>
                </a:solidFill>
              </a:rPr>
              <a:t>內建基本功能</a:t>
            </a:r>
            <a:r>
              <a:rPr b="1" lang="zh-TW" sz="2400">
                <a:solidFill>
                  <a:srgbClr val="FF0000"/>
                </a:solidFill>
              </a:rPr>
              <a:t> </a:t>
            </a:r>
            <a:r>
              <a:rPr b="1" lang="zh-TW" sz="2400">
                <a:solidFill>
                  <a:schemeClr val="accent1"/>
                </a:solidFill>
              </a:rPr>
              <a:t>Create Rectangle</a:t>
            </a:r>
            <a:r>
              <a:rPr b="1" lang="zh-TW" sz="2400">
                <a:solidFill>
                  <a:srgbClr val="FF0000"/>
                </a:solidFill>
              </a:rPr>
              <a:t>，進行手動</a:t>
            </a:r>
            <a:r>
              <a:rPr b="1" lang="zh-TW" sz="2400" u="sng">
                <a:solidFill>
                  <a:srgbClr val="FF0000"/>
                </a:solidFill>
              </a:rPr>
              <a:t>主動脈瓣</a:t>
            </a:r>
            <a:r>
              <a:rPr b="1" lang="zh-TW" sz="2400">
                <a:solidFill>
                  <a:srgbClr val="FF0000"/>
                </a:solidFill>
              </a:rPr>
              <a:t>標註。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繳交範例請見 </a:t>
            </a:r>
            <a:endParaRPr b="1" sz="24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 u="sng">
                <a:solidFill>
                  <a:schemeClr val="hlink"/>
                </a:solidFill>
                <a:hlinkClick r:id="rId4"/>
              </a:rPr>
              <a:t>https://yeh-chun-yu.github.io/ml2025f/hw04/index.html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263" name="Google Shape;263;g39ac5d99a93_2_83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ac5d99a93_2_1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9ac5d99a93_2_162"/>
          <p:cNvSpPr txBox="1"/>
          <p:nvPr>
            <p:ph type="ctrTitle"/>
          </p:nvPr>
        </p:nvSpPr>
        <p:spPr>
          <a:xfrm>
            <a:off x="953359" y="173628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7030A0"/>
                </a:solidFill>
              </a:rPr>
              <a:t>Strong baseline (2pt)</a:t>
            </a:r>
            <a:endParaRPr/>
          </a:p>
        </p:txBody>
      </p:sp>
      <p:sp>
        <p:nvSpPr>
          <p:cNvPr id="270" name="Google Shape;270;g39ac5d99a93_2_162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1" name="Google Shape;271;g39ac5d99a93_2_16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2" name="Google Shape;272;g39ac5d99a93_2_162"/>
          <p:cNvSpPr txBox="1"/>
          <p:nvPr>
            <p:ph idx="2" type="body"/>
          </p:nvPr>
        </p:nvSpPr>
        <p:spPr>
          <a:xfrm>
            <a:off x="954100" y="817857"/>
            <a:ext cx="10102800" cy="4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將 Medium baseline 標記完的 </a:t>
            </a:r>
            <a:r>
              <a:rPr b="1" lang="zh-TW" sz="2400">
                <a:solidFill>
                  <a:schemeClr val="accent3"/>
                </a:solidFill>
              </a:rPr>
              <a:t>64個 </a:t>
            </a:r>
            <a:r>
              <a:rPr b="1" lang="zh-TW" sz="2400">
                <a:solidFill>
                  <a:srgbClr val="7030A0"/>
                </a:solidFill>
              </a:rPr>
              <a:t>.json 檔案透過下方 Colab 整理成一份 .txt </a:t>
            </a:r>
            <a:r>
              <a:rPr b="1" lang="zh-TW" sz="2400">
                <a:solidFill>
                  <a:srgbClr val="7030A0"/>
                </a:solidFill>
              </a:rPr>
              <a:t>檔</a:t>
            </a:r>
            <a:r>
              <a:rPr b="1" lang="zh-TW" sz="2400">
                <a:solidFill>
                  <a:srgbClr val="7030A0"/>
                </a:solidFill>
              </a:rPr>
              <a:t>，並上傳至 github</a:t>
            </a:r>
            <a:r>
              <a:rPr b="1" lang="zh-TW" sz="2400">
                <a:solidFill>
                  <a:srgbClr val="7030A0"/>
                </a:solidFill>
              </a:rPr>
              <a:t>。(檔案命名為 </a:t>
            </a:r>
            <a:r>
              <a:rPr b="1" lang="zh-TW" sz="2400" u="sng">
                <a:solidFill>
                  <a:srgbClr val="7030A0"/>
                </a:solidFill>
              </a:rPr>
              <a:t>學號</a:t>
            </a:r>
            <a:r>
              <a:rPr b="1" lang="zh-TW" sz="2400">
                <a:solidFill>
                  <a:srgbClr val="7030A0"/>
                </a:solidFill>
              </a:rPr>
              <a:t>.txt)</a:t>
            </a:r>
            <a:endParaRPr b="1" sz="2400">
              <a:solidFill>
                <a:srgbClr val="7030A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7030A0"/>
                </a:solidFill>
              </a:rPr>
              <a:t>Colab</a:t>
            </a:r>
            <a:r>
              <a:rPr b="1" lang="zh-TW" sz="2400">
                <a:solidFill>
                  <a:srgbClr val="7030A0"/>
                </a:solidFill>
              </a:rPr>
              <a:t> 連結 : </a:t>
            </a:r>
            <a:r>
              <a:rPr b="1" lang="zh-TW" sz="1600" u="sng">
                <a:solidFill>
                  <a:schemeClr val="hlink"/>
                </a:solidFill>
                <a:hlinkClick r:id="rId3"/>
              </a:rPr>
              <a:t>https://colab.research.google.com/drive/1TwFV2AxEOiFKRLlmgly4uG3KdjmkgY2x?usp=sharing</a:t>
            </a:r>
            <a:endParaRPr b="1" sz="16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AP</a:t>
            </a:r>
            <a:r>
              <a:rPr b="1" lang="zh-TW" sz="2400">
                <a:solidFill>
                  <a:srgbClr val="7030A0"/>
                </a:solidFill>
              </a:rPr>
              <a:t> 分數，名列</a:t>
            </a:r>
            <a:r>
              <a:rPr b="1" lang="zh-TW" sz="2400">
                <a:solidFill>
                  <a:srgbClr val="FF0000"/>
                </a:solidFill>
              </a:rPr>
              <a:t>全班前20名</a:t>
            </a:r>
            <a:r>
              <a:rPr b="1" lang="zh-TW" sz="2400">
                <a:solidFill>
                  <a:srgbClr val="7030A0"/>
                </a:solidFill>
              </a:rPr>
              <a:t>。(1pt)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AP</a:t>
            </a:r>
            <a:r>
              <a:rPr b="1" lang="zh-TW" sz="2400">
                <a:solidFill>
                  <a:srgbClr val="7030A0"/>
                </a:solidFill>
              </a:rPr>
              <a:t> 分數，名列</a:t>
            </a:r>
            <a:r>
              <a:rPr b="1" lang="zh-TW" sz="2400">
                <a:solidFill>
                  <a:srgbClr val="FF0000"/>
                </a:solidFill>
              </a:rPr>
              <a:t>全班前10名</a:t>
            </a:r>
            <a:r>
              <a:rPr b="1" lang="zh-TW" sz="2400">
                <a:solidFill>
                  <a:srgbClr val="7030A0"/>
                </a:solidFill>
              </a:rPr>
              <a:t>。(1pt)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上傳到你的 github 帳號</a:t>
            </a:r>
            <a:endParaRPr b="1" sz="2400">
              <a:solidFill>
                <a:srgbClr val="7030A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solidFill>
                  <a:srgbClr val="7030A0"/>
                </a:solidFill>
              </a:rPr>
              <a:t>https://github.com/</a:t>
            </a:r>
            <a:r>
              <a:rPr b="1" lang="zh-TW" sz="2400">
                <a:solidFill>
                  <a:srgbClr val="FF0000"/>
                </a:solidFill>
              </a:rPr>
              <a:t>你的帳號</a:t>
            </a:r>
            <a:r>
              <a:rPr b="1" lang="zh-TW" sz="2400">
                <a:solidFill>
                  <a:srgbClr val="7030A0"/>
                </a:solidFill>
              </a:rPr>
              <a:t>/ml2025f/tree/main/hw0</a:t>
            </a:r>
            <a:r>
              <a:rPr b="1" lang="zh-TW" sz="2400">
                <a:solidFill>
                  <a:srgbClr val="7030A0"/>
                </a:solidFill>
              </a:rPr>
              <a:t>4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繳交範例，請見 </a:t>
            </a:r>
            <a:endParaRPr b="1" sz="2400">
              <a:solidFill>
                <a:srgbClr val="7030A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 u="sng">
                <a:solidFill>
                  <a:schemeClr val="hlink"/>
                </a:solidFill>
                <a:hlinkClick r:id="rId4"/>
              </a:rPr>
              <a:t>https://yeh-chun-yu.github.io/ml2025f/hw04/index.html</a:t>
            </a:r>
            <a:endParaRPr b="1" sz="240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繳交資訊</a:t>
            </a:r>
            <a:endParaRPr/>
          </a:p>
        </p:txBody>
      </p:sp>
      <p:sp>
        <p:nvSpPr>
          <p:cNvPr id="278" name="Google Shape;278;p43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章節06</a:t>
            </a:r>
            <a:endParaRPr/>
          </a:p>
        </p:txBody>
      </p:sp>
      <p:sp>
        <p:nvSpPr>
          <p:cNvPr id="279" name="Google Shape;279;p43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04</a:t>
            </a:r>
            <a:endParaRPr/>
          </a:p>
        </p:txBody>
      </p:sp>
      <p:sp>
        <p:nvSpPr>
          <p:cNvPr id="280" name="Google Shape;280;p43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1" name="Google Shape;281;p43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11f23a0b7_0_52"/>
          <p:cNvSpPr txBox="1"/>
          <p:nvPr>
            <p:ph type="ctrTitle"/>
          </p:nvPr>
        </p:nvSpPr>
        <p:spPr>
          <a:xfrm>
            <a:off x="903345" y="533663"/>
            <a:ext cx="11663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作業上傳</a:t>
            </a:r>
            <a:endParaRPr/>
          </a:p>
        </p:txBody>
      </p:sp>
      <p:sp>
        <p:nvSpPr>
          <p:cNvPr id="287" name="Google Shape;287;g3311f23a0b7_0_52"/>
          <p:cNvSpPr txBox="1"/>
          <p:nvPr/>
        </p:nvSpPr>
        <p:spPr>
          <a:xfrm>
            <a:off x="903340" y="1362975"/>
            <a:ext cx="10902300" cy="4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上傳至 </a:t>
            </a:r>
            <a:r>
              <a:rPr b="0" i="0" lang="zh-TW" sz="2400" u="sng" cap="none" strike="noStrike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https://github.com/你的帳號/ml2025f/hw</a:t>
            </a:r>
            <a:r>
              <a:rPr b="0" i="0" lang="zh-TW" sz="2400" u="sng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</a:t>
            </a:r>
            <a:r>
              <a:rPr lang="zh-TW" sz="2400" u="sng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4</a:t>
            </a:r>
            <a:r>
              <a:rPr b="0" i="0" lang="zh-TW" sz="2400" u="sng" cap="none" strike="noStrike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8" name="Google Shape;288;g3311f23a0b7_0_52"/>
          <p:cNvSpPr txBox="1"/>
          <p:nvPr/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9" name="Google Shape;289;g3311f23a0b7_0_52"/>
          <p:cNvSpPr txBox="1"/>
          <p:nvPr/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000000"/>
                </a:solidFill>
                <a:latin typeface="Mulish"/>
                <a:ea typeface="Mulish"/>
                <a:cs typeface="Mulish"/>
                <a:sym typeface="Mulish"/>
              </a:rPr>
              <a:t>P.</a:t>
            </a:r>
            <a:fld id="{00000000-1234-1234-1234-123412341234}" type="slidenum">
              <a:rPr lang="zh-TW" sz="1200">
                <a:solidFill>
                  <a:srgbClr val="000000"/>
                </a:solidFill>
                <a:latin typeface="Mulish"/>
                <a:ea typeface="Mulish"/>
                <a:cs typeface="Mulish"/>
                <a:sym typeface="Mulish"/>
              </a:rPr>
              <a:t>‹#›</a:t>
            </a:fld>
            <a:endParaRPr sz="1200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08cba9ff31_1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Regulations</a:t>
            </a:r>
            <a:endParaRPr/>
          </a:p>
        </p:txBody>
      </p:sp>
      <p:sp>
        <p:nvSpPr>
          <p:cNvPr id="296" name="Google Shape;296;g208cba9ff31_1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97" name="Google Shape;297;g208cba9ff31_1_0"/>
          <p:cNvSpPr txBox="1"/>
          <p:nvPr>
            <p:ph idx="2" type="body"/>
          </p:nvPr>
        </p:nvSpPr>
        <p:spPr>
          <a:xfrm>
            <a:off x="954088" y="1618596"/>
            <a:ext cx="10442918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You should finish your homework on your own.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Do not share your codes with any living creatures.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Your HW will get 0 pt if you violate any of the above rules.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Professor &amp; TAs preserve the rights to change the rules &amp; grades.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298" name="Google Shape;298;g208cba9ff31_1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2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304" name="Google Shape;304;p6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章節07</a:t>
            </a:r>
            <a:endParaRPr/>
          </a:p>
        </p:txBody>
      </p:sp>
      <p:sp>
        <p:nvSpPr>
          <p:cNvPr id="305" name="Google Shape;305;p62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05</a:t>
            </a:r>
            <a:endParaRPr/>
          </a:p>
        </p:txBody>
      </p:sp>
      <p:sp>
        <p:nvSpPr>
          <p:cNvPr id="306" name="Google Shape;306;p6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7" name="Google Shape;307;p62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08cba9ff31_2_5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314" name="Google Shape;314;g208cba9ff31_2_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15" name="Google Shape;315;g208cba9ff31_2_5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6858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zh-TW"/>
              <a:t>TA Email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胡凱翔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t114598018@ntut.org.tw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Email 標題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2" marL="148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 : [-hw0X-學號]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2" marL="148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例如：-hw04-114598001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6" name="Google Shape;316;g208cba9ff31_2_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2021-11-03T01:57:43Z</dcterms:created>
  <dc:creator>Microsoft Office User</dc:creator>
</cp:coreProperties>
</file>