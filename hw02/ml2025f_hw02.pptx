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2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6858000" cx="12192000"/>
  <p:notesSz cx="6858000" cy="9144000"/>
  <p:embeddedFontLst>
    <p:embeddedFont>
      <p:font typeface="Mulish ExtraLight"/>
      <p:regular r:id="rId32"/>
      <p:bold r:id="rId33"/>
      <p:italic r:id="rId34"/>
      <p:boldItalic r:id="rId35"/>
    </p:embeddedFont>
    <p:embeddedFont>
      <p:font typeface="Mulish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59">
          <p15:clr>
            <a:srgbClr val="A4A3A4"/>
          </p15:clr>
        </p15:guide>
        <p15:guide id="2" pos="597">
          <p15:clr>
            <a:srgbClr val="A4A3A4"/>
          </p15:clr>
        </p15:guide>
        <p15:guide id="3" pos="6947">
          <p15:clr>
            <a:srgbClr val="A4A3A4"/>
          </p15:clr>
        </p15:guide>
        <p15:guide id="4" orient="horz" pos="3589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ghwCRaGQqCwbFinJSp9I3ga4f5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9" orient="horz"/>
        <p:guide pos="597"/>
        <p:guide pos="6947"/>
        <p:guide pos="358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MulishExtraLight-bold.fntdata"/><Relationship Id="rId10" Type="http://schemas.openxmlformats.org/officeDocument/2006/relationships/slide" Target="slides/slide3.xml"/><Relationship Id="rId32" Type="http://schemas.openxmlformats.org/officeDocument/2006/relationships/font" Target="fonts/MulishExtraLight-regular.fntdata"/><Relationship Id="rId13" Type="http://schemas.openxmlformats.org/officeDocument/2006/relationships/slide" Target="slides/slide6.xml"/><Relationship Id="rId35" Type="http://schemas.openxmlformats.org/officeDocument/2006/relationships/font" Target="fonts/MulishExtraLight-boldItalic.fntdata"/><Relationship Id="rId12" Type="http://schemas.openxmlformats.org/officeDocument/2006/relationships/slide" Target="slides/slide5.xml"/><Relationship Id="rId34" Type="http://schemas.openxmlformats.org/officeDocument/2006/relationships/font" Target="fonts/MulishExtraLight-italic.fntdata"/><Relationship Id="rId15" Type="http://schemas.openxmlformats.org/officeDocument/2006/relationships/slide" Target="slides/slide8.xml"/><Relationship Id="rId37" Type="http://schemas.openxmlformats.org/officeDocument/2006/relationships/font" Target="fonts/Mulish-bold.fntdata"/><Relationship Id="rId14" Type="http://schemas.openxmlformats.org/officeDocument/2006/relationships/slide" Target="slides/slide7.xml"/><Relationship Id="rId36" Type="http://schemas.openxmlformats.org/officeDocument/2006/relationships/font" Target="fonts/Mulish-regular.fntdata"/><Relationship Id="rId17" Type="http://schemas.openxmlformats.org/officeDocument/2006/relationships/slide" Target="slides/slide10.xml"/><Relationship Id="rId39" Type="http://schemas.openxmlformats.org/officeDocument/2006/relationships/font" Target="fonts/Mulish-boldItalic.fntdata"/><Relationship Id="rId16" Type="http://schemas.openxmlformats.org/officeDocument/2006/relationships/slide" Target="slides/slide9.xml"/><Relationship Id="rId38" Type="http://schemas.openxmlformats.org/officeDocument/2006/relationships/font" Target="fonts/Mulish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91017960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2791017960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27910179600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510a4e5f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2f510a4e5f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27a66b3cf_1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827a66b3cf_1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27a66b3cf_3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827a66b3cf_3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7a66b3cf_12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827a66b3cf_12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27a66b3cf_3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827a66b3cf_3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27a66b3cf_3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27a66b3cf_3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827a66b3cf_3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27a66b3cf_3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827a66b3cf_3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27a66b3cf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827a66b3cf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7c76abbf6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7c76abbf6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87c76abbf6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34dd74f4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834dd74f4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e4c1bcdb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38e4c1bcdb8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e4c1bcdb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8e4c1bcdb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311f23a0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3311f23a0b7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08cba9ff3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208cba9ff3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208cba9ff3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08cba9ff31_2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208cba9ff31_2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g208cba9ff31_2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/>
          <p:nvPr>
            <p:ph type="ctrTitle"/>
          </p:nvPr>
        </p:nvSpPr>
        <p:spPr>
          <a:xfrm>
            <a:off x="967109" y="2274495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" type="body"/>
          </p:nvPr>
        </p:nvSpPr>
        <p:spPr>
          <a:xfrm>
            <a:off x="967109" y="3007096"/>
            <a:ext cx="10191320" cy="115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967109" y="2141506"/>
            <a:ext cx="6356480" cy="1886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2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967109" y="2162200"/>
            <a:ext cx="6356480" cy="185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8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" name="Google Shape;29;p31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" name="Google Shape;32;p67"/>
          <p:cNvSpPr txBox="1"/>
          <p:nvPr>
            <p:ph type="ctrTitle"/>
          </p:nvPr>
        </p:nvSpPr>
        <p:spPr>
          <a:xfrm>
            <a:off x="966788" y="2241418"/>
            <a:ext cx="635648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67"/>
          <p:cNvSpPr txBox="1"/>
          <p:nvPr>
            <p:ph idx="1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7"/>
          <p:cNvSpPr txBox="1"/>
          <p:nvPr>
            <p:ph idx="2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8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" name="Google Shape;37;p68"/>
          <p:cNvSpPr txBox="1"/>
          <p:nvPr>
            <p:ph idx="1" type="body"/>
          </p:nvPr>
        </p:nvSpPr>
        <p:spPr>
          <a:xfrm>
            <a:off x="967109" y="2246089"/>
            <a:ext cx="6356480" cy="25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8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8"/>
          <p:cNvSpPr txBox="1"/>
          <p:nvPr>
            <p:ph idx="3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1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/>
          <p:nvPr>
            <p:ph idx="2" type="pic"/>
          </p:nvPr>
        </p:nvSpPr>
        <p:spPr>
          <a:xfrm>
            <a:off x="0" y="0"/>
            <a:ext cx="1200351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2"/>
          <p:cNvSpPr txBox="1"/>
          <p:nvPr>
            <p:ph idx="2" type="body"/>
          </p:nvPr>
        </p:nvSpPr>
        <p:spPr>
          <a:xfrm>
            <a:off x="954088" y="1578855"/>
            <a:ext cx="10102795" cy="413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4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4"/>
          <p:cNvSpPr txBox="1"/>
          <p:nvPr>
            <p:ph type="ctrTitle"/>
          </p:nvPr>
        </p:nvSpPr>
        <p:spPr>
          <a:xfrm>
            <a:off x="953359" y="359005"/>
            <a:ext cx="10455376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5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" name="Google Shape;63;p25"/>
          <p:cNvSpPr txBox="1"/>
          <p:nvPr>
            <p:ph type="ctrTitle"/>
          </p:nvPr>
        </p:nvSpPr>
        <p:spPr>
          <a:xfrm>
            <a:off x="953359" y="360637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monai.io/en/stable/networks.html#net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monai.io/en/stable/networks.html#net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%E4%BD%A0%E7%9A%84%E5%B8%B3%E8%99%9F/ml2025f/hw01/" TargetMode="External"/><Relationship Id="rId4" Type="http://schemas.openxmlformats.org/officeDocument/2006/relationships/hyperlink" Target="https://golden-demise.github.io/ml2025f/hw02/index.html" TargetMode="External"/><Relationship Id="rId5" Type="http://schemas.openxmlformats.org/officeDocument/2006/relationships/hyperlink" Target="https://golden-demise.github.io/ml2025f/hw02/index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hyperlink" Target="mailto:t112598016@ntut.org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>
            <p:ph type="ctrTitle"/>
          </p:nvPr>
        </p:nvSpPr>
        <p:spPr>
          <a:xfrm>
            <a:off x="967109" y="2274495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 sz="3200"/>
              <a:t>機器學習</a:t>
            </a:r>
            <a:endParaRPr/>
          </a:p>
        </p:txBody>
      </p:sp>
      <p:sp>
        <p:nvSpPr>
          <p:cNvPr id="76" name="Google Shape;76;p6"/>
          <p:cNvSpPr txBox="1"/>
          <p:nvPr>
            <p:ph idx="1" type="body"/>
          </p:nvPr>
        </p:nvSpPr>
        <p:spPr>
          <a:xfrm>
            <a:off x="967109" y="3007096"/>
            <a:ext cx="10191320" cy="115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rPr lang="zh-TW"/>
              <a:t>HW0</a:t>
            </a:r>
            <a:r>
              <a:rPr lang="zh-TW"/>
              <a:t>2 － 心臟肌肉影像分割(模型訓練)</a:t>
            </a:r>
            <a:endParaRPr/>
          </a:p>
        </p:txBody>
      </p:sp>
      <p:sp>
        <p:nvSpPr>
          <p:cNvPr id="77" name="Google Shape;77;p6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教師</a:t>
            </a:r>
            <a:endParaRPr/>
          </a:p>
        </p:txBody>
      </p:sp>
      <p:sp>
        <p:nvSpPr>
          <p:cNvPr id="78" name="Google Shape;78;p6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國立臺北科技大學資訊工程系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84" name="Google Shape;84;p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85" name="Google Shape;85;p2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01</a:t>
            </a:r>
            <a:endParaRPr/>
          </a:p>
        </p:txBody>
      </p:sp>
      <p:sp>
        <p:nvSpPr>
          <p:cNvPr id="86" name="Google Shape;86;p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7" name="Google Shape;87;p2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93" name="Google Shape;93;p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zh-TW"/>
              <a:t>評分標準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Char char="•"/>
            </a:pPr>
            <a:r>
              <a:rPr lang="zh-TW"/>
              <a:t>作業說明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Char char="•"/>
            </a:pPr>
            <a:r>
              <a:rPr lang="zh-TW"/>
              <a:t>繳交資訊</a:t>
            </a:r>
            <a:endParaRPr/>
          </a:p>
        </p:txBody>
      </p:sp>
      <p:sp>
        <p:nvSpPr>
          <p:cNvPr id="95" name="Google Shape;95;p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910179600_0_4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評分標準</a:t>
            </a:r>
            <a:endParaRPr/>
          </a:p>
        </p:txBody>
      </p:sp>
      <p:sp>
        <p:nvSpPr>
          <p:cNvPr id="102" name="Google Shape;102;g27910179600_0_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03" name="Google Shape;103;g27910179600_0_4"/>
          <p:cNvSpPr txBox="1"/>
          <p:nvPr>
            <p:ph idx="2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5800"/>
              <a:buNone/>
            </a:pPr>
            <a:r>
              <a:rPr lang="zh-TW"/>
              <a:t>02</a:t>
            </a:r>
            <a:endParaRPr/>
          </a:p>
        </p:txBody>
      </p:sp>
      <p:sp>
        <p:nvSpPr>
          <p:cNvPr id="104" name="Google Shape;104;g27910179600_0_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5" name="Google Shape;105;g27910179600_0_4"/>
          <p:cNvSpPr txBox="1"/>
          <p:nvPr>
            <p:ph idx="3" type="body"/>
          </p:nvPr>
        </p:nvSpPr>
        <p:spPr>
          <a:xfrm>
            <a:off x="967109" y="3124542"/>
            <a:ext cx="101913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510a4e5fe_0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評分標準</a:t>
            </a:r>
            <a:endParaRPr/>
          </a:p>
        </p:txBody>
      </p:sp>
      <p:sp>
        <p:nvSpPr>
          <p:cNvPr id="111" name="Google Shape;111;g2f510a4e5fe_0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2" name="Google Shape;112;g2f510a4e5fe_0_0"/>
          <p:cNvSpPr txBox="1"/>
          <p:nvPr>
            <p:ph idx="2" type="body"/>
          </p:nvPr>
        </p:nvSpPr>
        <p:spPr>
          <a:xfrm>
            <a:off x="947750" y="1556288"/>
            <a:ext cx="10102800" cy="45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Simple baseline (4pt)</a:t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Medium baseline (4pt)</a:t>
            </a:r>
            <a:endParaRPr b="1"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Strong baseline (2pt)</a:t>
            </a:r>
            <a:endParaRPr b="1" sz="2400">
              <a:solidFill>
                <a:srgbClr val="7030A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3" name="Google Shape;113;g2f510a4e5fe_0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9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作業說明</a:t>
            </a:r>
            <a:endParaRPr/>
          </a:p>
        </p:txBody>
      </p:sp>
      <p:sp>
        <p:nvSpPr>
          <p:cNvPr id="119" name="Google Shape;119;p39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20" name="Google Shape;120;p39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121" name="Google Shape;121;p39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2" name="Google Shape;122;p39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0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129" name="Google Shape;129;p40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0" name="Google Shape;130;p40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根據</a:t>
            </a:r>
            <a:r>
              <a:rPr b="1" lang="zh-TW" sz="2400" u="sng">
                <a:solidFill>
                  <a:srgbClr val="00B050"/>
                </a:solidFill>
              </a:rPr>
              <a:t>課程講義</a:t>
            </a:r>
            <a:r>
              <a:rPr b="1" lang="zh-TW" sz="2400">
                <a:solidFill>
                  <a:srgbClr val="00B050"/>
                </a:solidFill>
              </a:rPr>
              <a:t>中</a:t>
            </a:r>
            <a:r>
              <a:rPr b="1" lang="zh-TW" sz="2400" u="sng">
                <a:solidFill>
                  <a:srgbClr val="00B050"/>
                </a:solidFill>
              </a:rPr>
              <a:t>範例程式碼</a:t>
            </a:r>
            <a:r>
              <a:rPr b="1" lang="zh-TW" sz="2400">
                <a:solidFill>
                  <a:srgbClr val="00B050"/>
                </a:solidFill>
              </a:rPr>
              <a:t>Colab的超連結，前往訓練模型的colab</a:t>
            </a:r>
            <a:r>
              <a:rPr b="1" lang="zh-TW" sz="2400">
                <a:solidFill>
                  <a:srgbClr val="00B050"/>
                </a:solidFill>
              </a:rPr>
              <a:t>。</a:t>
            </a:r>
            <a:endParaRPr b="1" sz="2400">
              <a:solidFill>
                <a:srgbClr val="00B05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B05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B05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1" name="Google Shape;131;p40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2" name="Google Shape;132;p40"/>
          <p:cNvSpPr txBox="1"/>
          <p:nvPr/>
        </p:nvSpPr>
        <p:spPr>
          <a:xfrm>
            <a:off x="21325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40" title="投影片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000" y="2084950"/>
            <a:ext cx="7200000" cy="39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27a66b3cf_12_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827a66b3cf_12_3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140" name="Google Shape;140;g3827a66b3cf_12_3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1" name="Google Shape;141;g3827a66b3cf_12_3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下載</a:t>
            </a:r>
            <a:r>
              <a:rPr b="1" lang="zh-TW" sz="2400">
                <a:solidFill>
                  <a:srgbClr val="00B050"/>
                </a:solidFill>
              </a:rPr>
              <a:t>資料集(</a:t>
            </a:r>
            <a:r>
              <a:rPr b="1" lang="zh-TW" sz="2400">
                <a:solidFill>
                  <a:schemeClr val="accent3"/>
                </a:solidFill>
              </a:rPr>
              <a:t>訓練集</a:t>
            </a:r>
            <a:r>
              <a:rPr b="1" lang="zh-TW" sz="2400">
                <a:solidFill>
                  <a:srgbClr val="00B050"/>
                </a:solidFill>
              </a:rPr>
              <a:t>)到本地端 local 電腦</a:t>
            </a:r>
            <a:r>
              <a:rPr b="1" lang="zh-TW" sz="2400">
                <a:solidFill>
                  <a:srgbClr val="00B050"/>
                </a:solidFill>
              </a:rPr>
              <a:t>。</a:t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2" name="Google Shape;142;g3827a66b3cf_12_3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3" name="Google Shape;143;g3827a66b3cf_12_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g3827a66b3cf_12_3" title="投影片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800" y="2084400"/>
            <a:ext cx="7200000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827a66b3cf_12_3"/>
          <p:cNvSpPr/>
          <p:nvPr/>
        </p:nvSpPr>
        <p:spPr>
          <a:xfrm>
            <a:off x="4850375" y="3073800"/>
            <a:ext cx="257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27a66b3cf_3_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827a66b3cf_3_36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152" name="Google Shape;152;g3827a66b3cf_3_36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3" name="Google Shape;153;g3827a66b3cf_3_36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上傳</a:t>
            </a:r>
            <a:r>
              <a:rPr b="1" lang="zh-TW" sz="2400">
                <a:solidFill>
                  <a:srgbClr val="00B050"/>
                </a:solidFill>
              </a:rPr>
              <a:t>資料集(</a:t>
            </a:r>
            <a:r>
              <a:rPr b="1" lang="zh-TW" sz="2400">
                <a:solidFill>
                  <a:schemeClr val="accent3"/>
                </a:solidFill>
              </a:rPr>
              <a:t>訓練集</a:t>
            </a:r>
            <a:r>
              <a:rPr b="1" lang="zh-TW" sz="2400">
                <a:solidFill>
                  <a:srgbClr val="00B050"/>
                </a:solidFill>
              </a:rPr>
              <a:t>)到 Google Drive。</a:t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4" name="Google Shape;154;g3827a66b3cf_3_36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5" name="Google Shape;155;g3827a66b3cf_3_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g3827a66b3cf_3_36" title="投影片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800" y="2084400"/>
            <a:ext cx="7200000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827a66b3cf_3_36"/>
          <p:cNvSpPr/>
          <p:nvPr/>
        </p:nvSpPr>
        <p:spPr>
          <a:xfrm>
            <a:off x="4850375" y="3073800"/>
            <a:ext cx="257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27a66b3cf_12_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827a66b3cf_12_13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164" name="Google Shape;164;g3827a66b3cf_12_13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5" name="Google Shape;165;g3827a66b3cf_12_13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執行 Colab</a:t>
            </a:r>
            <a:r>
              <a:rPr b="1" lang="zh-TW" sz="2400">
                <a:solidFill>
                  <a:srgbClr val="00B050"/>
                </a:solidFill>
              </a:rPr>
              <a:t>，從 Google Drive </a:t>
            </a:r>
            <a:r>
              <a:rPr b="1" lang="zh-TW" sz="2400">
                <a:solidFill>
                  <a:srgbClr val="FF0000"/>
                </a:solidFill>
              </a:rPr>
              <a:t>載入</a:t>
            </a:r>
            <a:r>
              <a:rPr b="1" lang="zh-TW" sz="2400">
                <a:solidFill>
                  <a:srgbClr val="00B050"/>
                </a:solidFill>
              </a:rPr>
              <a:t>50筆</a:t>
            </a:r>
            <a:r>
              <a:rPr b="1" lang="zh-TW" sz="2400" u="sng">
                <a:solidFill>
                  <a:srgbClr val="00B050"/>
                </a:solidFill>
              </a:rPr>
              <a:t>訓練集</a:t>
            </a:r>
            <a:r>
              <a:rPr b="1" lang="zh-TW" sz="2400">
                <a:solidFill>
                  <a:srgbClr val="00B050"/>
                </a:solidFill>
              </a:rPr>
              <a:t>到 Colab。</a:t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6" name="Google Shape;166;g3827a66b3cf_12_13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7" name="Google Shape;167;g3827a66b3cf_12_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g3827a66b3cf_12_13" title="投影片5.PNG"/>
          <p:cNvPicPr preferRelativeResize="0"/>
          <p:nvPr/>
        </p:nvPicPr>
        <p:blipFill rotWithShape="1">
          <a:blip r:embed="rId3">
            <a:alphaModFix/>
          </a:blip>
          <a:srcRect b="0" l="0" r="0" t="13307"/>
          <a:stretch/>
        </p:blipFill>
        <p:spPr>
          <a:xfrm>
            <a:off x="1480475" y="2127800"/>
            <a:ext cx="9209574" cy="43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827a66b3cf_12_13"/>
          <p:cNvSpPr/>
          <p:nvPr/>
        </p:nvSpPr>
        <p:spPr>
          <a:xfrm>
            <a:off x="4850375" y="3073800"/>
            <a:ext cx="257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27a66b3cf_3_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827a66b3cf_3_27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176" name="Google Shape;176;g3827a66b3cf_3_27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7" name="Google Shape;177;g3827a66b3cf_3_27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預設的</a:t>
            </a:r>
            <a:r>
              <a:rPr b="1" lang="zh-TW" sz="2400">
                <a:solidFill>
                  <a:srgbClr val="FF0000"/>
                </a:solidFill>
              </a:rPr>
              <a:t>訓練</a:t>
            </a:r>
            <a:r>
              <a:rPr b="1" lang="zh-TW" sz="2400">
                <a:solidFill>
                  <a:srgbClr val="FF0000"/>
                </a:solidFill>
              </a:rPr>
              <a:t>設定檔</a:t>
            </a:r>
            <a:r>
              <a:rPr b="1" lang="zh-TW" sz="2400">
                <a:solidFill>
                  <a:srgbClr val="00B050"/>
                </a:solidFill>
              </a:rPr>
              <a:t>(AICUP_training.json) </a:t>
            </a:r>
            <a:r>
              <a:rPr b="1" lang="zh-TW" sz="2400">
                <a:solidFill>
                  <a:srgbClr val="FF0000"/>
                </a:solidFill>
              </a:rPr>
              <a:t>訓練/驗證/測試</a:t>
            </a:r>
            <a:r>
              <a:rPr b="1" lang="zh-TW" sz="2400">
                <a:solidFill>
                  <a:srgbClr val="00B050"/>
                </a:solidFill>
              </a:rPr>
              <a:t>(9/3/3)</a:t>
            </a:r>
            <a:r>
              <a:rPr b="1" lang="zh-TW" sz="2400">
                <a:solidFill>
                  <a:srgbClr val="00B050"/>
                </a:solidFill>
              </a:rPr>
              <a:t>筆</a:t>
            </a:r>
            <a:endParaRPr b="1" sz="2400">
              <a:solidFill>
                <a:srgbClr val="00B050"/>
              </a:solidFill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•"/>
            </a:pPr>
            <a:r>
              <a:rPr b="1" lang="zh-TW" sz="2400">
                <a:solidFill>
                  <a:srgbClr val="00B050"/>
                </a:solidFill>
              </a:rPr>
              <a:t>訓練：patient0011~0019	</a:t>
            </a:r>
            <a:r>
              <a:rPr b="1" lang="zh-TW">
                <a:solidFill>
                  <a:srgbClr val="00B050"/>
                </a:solidFill>
              </a:rPr>
              <a:t>九筆</a:t>
            </a:r>
            <a:endParaRPr b="1" sz="2400">
              <a:solidFill>
                <a:srgbClr val="00B050"/>
              </a:solidFill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•"/>
            </a:pPr>
            <a:r>
              <a:rPr b="1" lang="zh-TW" sz="2400">
                <a:solidFill>
                  <a:srgbClr val="00B050"/>
                </a:solidFill>
              </a:rPr>
              <a:t>驗證：patient0048~0050	</a:t>
            </a:r>
            <a:r>
              <a:rPr b="1" lang="zh-TW">
                <a:solidFill>
                  <a:srgbClr val="00B050"/>
                </a:solidFill>
              </a:rPr>
              <a:t>三筆</a:t>
            </a:r>
            <a:endParaRPr b="1">
              <a:solidFill>
                <a:srgbClr val="00B050"/>
              </a:solidFill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•"/>
            </a:pPr>
            <a:r>
              <a:rPr b="1" lang="zh-TW">
                <a:solidFill>
                  <a:srgbClr val="00B050"/>
                </a:solidFill>
              </a:rPr>
              <a:t>測試：patient0001~0003	三筆</a:t>
            </a:r>
            <a:endParaRPr b="1">
              <a:solidFill>
                <a:srgbClr val="00B050"/>
              </a:solidFill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7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Colab程式只會</a:t>
            </a:r>
            <a:r>
              <a:rPr b="1" lang="zh-TW" sz="2400">
                <a:solidFill>
                  <a:srgbClr val="00B050"/>
                </a:solidFill>
              </a:rPr>
              <a:t>從</a:t>
            </a:r>
            <a:r>
              <a:rPr b="1" lang="zh-TW" sz="2400">
                <a:solidFill>
                  <a:srgbClr val="00B050"/>
                </a:solidFill>
              </a:rPr>
              <a:t>50</a:t>
            </a:r>
            <a:r>
              <a:rPr b="1" lang="zh-TW" sz="2400">
                <a:solidFill>
                  <a:srgbClr val="00B050"/>
                </a:solidFill>
              </a:rPr>
              <a:t>筆訓練集之中，取</a:t>
            </a:r>
            <a:r>
              <a:rPr b="1" lang="zh-TW" sz="2400" u="sng">
                <a:solidFill>
                  <a:srgbClr val="00B050"/>
                </a:solidFill>
              </a:rPr>
              <a:t>其中的15筆</a:t>
            </a:r>
            <a:r>
              <a:rPr b="1" lang="zh-TW" sz="2400">
                <a:solidFill>
                  <a:srgbClr val="00B050"/>
                </a:solidFill>
              </a:rPr>
              <a:t>來訓練 baseline 模型(3D U-Net)，訓練時間耗時</a:t>
            </a:r>
            <a:r>
              <a:rPr b="1" lang="zh-TW" sz="2400">
                <a:solidFill>
                  <a:srgbClr val="FF0000"/>
                </a:solidFill>
              </a:rPr>
              <a:t>半小時</a:t>
            </a:r>
            <a:r>
              <a:rPr b="1" lang="zh-TW" sz="2400">
                <a:solidFill>
                  <a:srgbClr val="00B050"/>
                </a:solidFill>
              </a:rPr>
              <a:t>。</a:t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8" name="Google Shape;178;g3827a66b3cf_3_2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9" name="Google Shape;179;g3827a66b3cf_3_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27a66b3cf_3_19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00B050"/>
                </a:solidFill>
              </a:rPr>
              <a:t>設定檔 </a:t>
            </a:r>
            <a:r>
              <a:rPr lang="zh-TW" sz="3600">
                <a:solidFill>
                  <a:srgbClr val="00B050"/>
                </a:solidFill>
              </a:rPr>
              <a:t>AICUP_training.json 解說</a:t>
            </a:r>
            <a:endParaRPr sz="3600"/>
          </a:p>
        </p:txBody>
      </p:sp>
      <p:sp>
        <p:nvSpPr>
          <p:cNvPr id="186" name="Google Shape;186;g3827a66b3cf_3_19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827a66b3cf_3_1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8" name="Google Shape;188;g3827a66b3cf_3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46" y="2157915"/>
            <a:ext cx="2947075" cy="232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827a66b3cf_3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097" y="2044770"/>
            <a:ext cx="2227900" cy="47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827a66b3cf_3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563" y="2269298"/>
            <a:ext cx="2752725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827a66b3cf_3_19"/>
          <p:cNvSpPr txBox="1"/>
          <p:nvPr/>
        </p:nvSpPr>
        <p:spPr>
          <a:xfrm>
            <a:off x="2028275" y="1532725"/>
            <a:ext cx="5823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432FA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測試</a:t>
            </a:r>
            <a:endParaRPr b="1" sz="1600">
              <a:solidFill>
                <a:srgbClr val="432FA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2" name="Google Shape;192;g3827a66b3cf_3_19"/>
          <p:cNvSpPr txBox="1"/>
          <p:nvPr/>
        </p:nvSpPr>
        <p:spPr>
          <a:xfrm>
            <a:off x="5455900" y="1623175"/>
            <a:ext cx="5823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432FA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訓練</a:t>
            </a:r>
            <a:endParaRPr b="1" sz="1600">
              <a:solidFill>
                <a:srgbClr val="432FA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3" name="Google Shape;193;g3827a66b3cf_3_19"/>
          <p:cNvSpPr txBox="1"/>
          <p:nvPr/>
        </p:nvSpPr>
        <p:spPr>
          <a:xfrm>
            <a:off x="9464325" y="1623175"/>
            <a:ext cx="5823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432FA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驗證</a:t>
            </a:r>
            <a:endParaRPr b="1" sz="1600">
              <a:solidFill>
                <a:srgbClr val="432FA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27a66b3cf_3_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827a66b3cf_3_9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200" name="Google Shape;200;g3827a66b3cf_3_9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1" name="Google Shape;201;g3827a66b3cf_3_9"/>
          <p:cNvSpPr txBox="1"/>
          <p:nvPr>
            <p:ph idx="2" type="body"/>
          </p:nvPr>
        </p:nvSpPr>
        <p:spPr>
          <a:xfrm>
            <a:off x="954101" y="1618600"/>
            <a:ext cx="105660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將</a:t>
            </a:r>
            <a:r>
              <a:rPr b="1" lang="zh-TW" sz="2400">
                <a:solidFill>
                  <a:srgbClr val="00B050"/>
                </a:solidFill>
              </a:rPr>
              <a:t> </a:t>
            </a:r>
            <a:r>
              <a:rPr b="1" lang="zh-TW" sz="2400">
                <a:solidFill>
                  <a:srgbClr val="00B050"/>
                </a:solidFill>
              </a:rPr>
              <a:t>Colab 中所有步驟執行完畢，完成訓練 baseline 模型(3D U-Net)。</a:t>
            </a:r>
            <a:endParaRPr b="1" sz="2400">
              <a:solidFill>
                <a:srgbClr val="00B050"/>
              </a:solidFill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訓練完成後，</a:t>
            </a:r>
            <a:r>
              <a:rPr b="1" lang="zh-TW" sz="2400">
                <a:solidFill>
                  <a:srgbClr val="00B050"/>
                </a:solidFill>
              </a:rPr>
              <a:t>C</a:t>
            </a:r>
            <a:r>
              <a:rPr b="1" lang="zh-TW" sz="2400">
                <a:solidFill>
                  <a:srgbClr val="00B050"/>
                </a:solidFill>
              </a:rPr>
              <a:t>olab</a:t>
            </a:r>
            <a:r>
              <a:rPr b="1" lang="zh-TW" sz="2400">
                <a:solidFill>
                  <a:srgbClr val="00B050"/>
                </a:solidFill>
              </a:rPr>
              <a:t> </a:t>
            </a:r>
            <a:r>
              <a:rPr b="1" lang="zh-TW" sz="2400">
                <a:solidFill>
                  <a:srgbClr val="00B050"/>
                </a:solidFill>
              </a:rPr>
              <a:t>產生</a:t>
            </a:r>
            <a:r>
              <a:rPr b="1" lang="zh-TW" sz="2400">
                <a:solidFill>
                  <a:srgbClr val="FF0000"/>
                </a:solidFill>
              </a:rPr>
              <a:t>權重檔(</a:t>
            </a:r>
            <a:r>
              <a:rPr b="1" lang="zh-TW" sz="2400">
                <a:solidFill>
                  <a:srgbClr val="FF0000"/>
                </a:solidFill>
              </a:rPr>
              <a:t>AICUP_training</a:t>
            </a:r>
            <a:r>
              <a:rPr b="1" lang="zh-TW" sz="2400">
                <a:solidFill>
                  <a:srgbClr val="FF0000"/>
                </a:solidFill>
              </a:rPr>
              <a:t>.zip)</a:t>
            </a:r>
            <a:r>
              <a:rPr b="1" lang="zh-TW" sz="2400">
                <a:solidFill>
                  <a:srgbClr val="FF0000"/>
                </a:solidFill>
              </a:rPr>
              <a:t>，</a:t>
            </a:r>
            <a:r>
              <a:rPr b="1" lang="zh-TW" sz="2400">
                <a:solidFill>
                  <a:srgbClr val="FF0000"/>
                </a:solidFill>
              </a:rPr>
              <a:t>檔案</a:t>
            </a:r>
            <a:r>
              <a:rPr b="1" lang="zh-TW" sz="2400">
                <a:solidFill>
                  <a:srgbClr val="FF0000"/>
                </a:solidFill>
              </a:rPr>
              <a:t>107MB</a:t>
            </a:r>
            <a:r>
              <a:rPr b="1" lang="zh-TW" sz="2400">
                <a:solidFill>
                  <a:srgbClr val="00B050"/>
                </a:solidFill>
              </a:rPr>
              <a:t>。</a:t>
            </a:r>
            <a:endParaRPr b="1" sz="2400">
              <a:solidFill>
                <a:srgbClr val="00B050"/>
              </a:solidFill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將上述</a:t>
            </a:r>
            <a:r>
              <a:rPr b="1" lang="zh-TW" sz="2400">
                <a:solidFill>
                  <a:srgbClr val="00B050"/>
                </a:solidFill>
              </a:rPr>
              <a:t> </a:t>
            </a:r>
            <a:r>
              <a:rPr b="1" lang="zh-TW" sz="2400">
                <a:solidFill>
                  <a:srgbClr val="00B050"/>
                </a:solidFill>
              </a:rPr>
              <a:t>baseline 模型</a:t>
            </a:r>
            <a:r>
              <a:rPr b="1" lang="zh-TW" sz="2400">
                <a:solidFill>
                  <a:srgbClr val="FF0000"/>
                </a:solidFill>
              </a:rPr>
              <a:t>權重檔</a:t>
            </a:r>
            <a:r>
              <a:rPr b="1" lang="zh-TW" sz="2400">
                <a:solidFill>
                  <a:srgbClr val="00B050"/>
                </a:solidFill>
              </a:rPr>
              <a:t>，</a:t>
            </a:r>
            <a:r>
              <a:rPr b="1" lang="zh-TW" sz="2400">
                <a:solidFill>
                  <a:srgbClr val="FF0000"/>
                </a:solidFill>
              </a:rPr>
              <a:t>下載</a:t>
            </a:r>
            <a:r>
              <a:rPr b="1" lang="zh-TW" sz="2400">
                <a:solidFill>
                  <a:srgbClr val="00B050"/>
                </a:solidFill>
              </a:rPr>
              <a:t>至你的本地端 local 電腦。</a:t>
            </a:r>
            <a:endParaRPr b="1" sz="24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2" name="Google Shape;202;g3827a66b3cf_3_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03" name="Google Shape;203;g3827a66b3cf_3_9" title="投影片6.PNG"/>
          <p:cNvPicPr preferRelativeResize="0"/>
          <p:nvPr/>
        </p:nvPicPr>
        <p:blipFill rotWithShape="1">
          <a:blip r:embed="rId3">
            <a:alphaModFix/>
          </a:blip>
          <a:srcRect b="5856" l="0" r="0" t="13699"/>
          <a:stretch/>
        </p:blipFill>
        <p:spPr>
          <a:xfrm>
            <a:off x="2701827" y="3144925"/>
            <a:ext cx="7929949" cy="350857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827a66b3cf_3_9"/>
          <p:cNvSpPr/>
          <p:nvPr/>
        </p:nvSpPr>
        <p:spPr>
          <a:xfrm>
            <a:off x="4927275" y="3568125"/>
            <a:ext cx="233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27a66b3cf_3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827a66b3cf_3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211" name="Google Shape;211;g3827a66b3cf_3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2" name="Google Shape;212;g3827a66b3cf_3_0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將</a:t>
            </a:r>
            <a:r>
              <a:rPr b="1" lang="zh-TW" sz="2400">
                <a:solidFill>
                  <a:srgbClr val="FF0000"/>
                </a:solidFill>
              </a:rPr>
              <a:t>權重檔</a:t>
            </a:r>
            <a:r>
              <a:rPr b="1" lang="zh-TW" sz="2400">
                <a:solidFill>
                  <a:schemeClr val="accent6"/>
                </a:solidFill>
              </a:rPr>
              <a:t>放入</a:t>
            </a:r>
            <a:r>
              <a:rPr b="1" lang="zh-TW" sz="2400">
                <a:solidFill>
                  <a:srgbClr val="FF0000"/>
                </a:solidFill>
              </a:rPr>
              <a:t>自己的 Google Drive</a:t>
            </a:r>
            <a:r>
              <a:rPr b="1" lang="zh-TW" sz="2400">
                <a:solidFill>
                  <a:srgbClr val="00B050"/>
                </a:solidFill>
              </a:rPr>
              <a:t>。</a:t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3" name="Google Shape;213;g3827a66b3cf_3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14" name="Google Shape;214;g3827a66b3cf_3_0" title="投影片7.PNG"/>
          <p:cNvPicPr preferRelativeResize="0"/>
          <p:nvPr/>
        </p:nvPicPr>
        <p:blipFill rotWithShape="1">
          <a:blip r:embed="rId3">
            <a:alphaModFix/>
          </a:blip>
          <a:srcRect b="6874" l="0" r="0" t="15274"/>
          <a:stretch/>
        </p:blipFill>
        <p:spPr>
          <a:xfrm>
            <a:off x="1048369" y="2088399"/>
            <a:ext cx="10681850" cy="457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827a66b3cf_3_0"/>
          <p:cNvSpPr/>
          <p:nvPr/>
        </p:nvSpPr>
        <p:spPr>
          <a:xfrm>
            <a:off x="2651175" y="4016575"/>
            <a:ext cx="201300" cy="8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7c76abbf6_1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222" name="Google Shape;222;g387c76abbf6_1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87c76abbf6_1_0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將訓練完的</a:t>
            </a:r>
            <a:r>
              <a:rPr b="1" lang="zh-TW" sz="2400">
                <a:solidFill>
                  <a:srgbClr val="FF0000"/>
                </a:solidFill>
              </a:rPr>
              <a:t> Dice 分數結果(如下圖)，截圖並放到</a:t>
            </a:r>
            <a:r>
              <a:rPr b="1" lang="zh-TW" sz="2400">
                <a:solidFill>
                  <a:schemeClr val="accent6"/>
                </a:solidFill>
              </a:rPr>
              <a:t>作品集網站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24" name="Google Shape;224;g387c76abbf6_1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25" name="Google Shape;225;g387c76abbf6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525" y="2262031"/>
            <a:ext cx="10369802" cy="356462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87c76abbf6_1_0"/>
          <p:cNvSpPr/>
          <p:nvPr/>
        </p:nvSpPr>
        <p:spPr>
          <a:xfrm>
            <a:off x="3077165" y="5119467"/>
            <a:ext cx="1931400" cy="655200"/>
          </a:xfrm>
          <a:prstGeom prst="rect">
            <a:avLst/>
          </a:prstGeom>
          <a:noFill/>
          <a:ln cap="flat" cmpd="sng" w="243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775" lIns="77775" spcFirstLastPara="1" rIns="77775" wrap="square" tIns="77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34dd74f43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834dd74f43_0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FF0000"/>
                </a:solidFill>
              </a:rPr>
              <a:t>Medium baseline (4pt)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33" name="Google Shape;233;g3834dd74f43_0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34" name="Google Shape;234;g3834dd74f43_0_0"/>
          <p:cNvSpPr txBox="1"/>
          <p:nvPr>
            <p:ph idx="2" type="body"/>
          </p:nvPr>
        </p:nvSpPr>
        <p:spPr>
          <a:xfrm>
            <a:off x="954100" y="1560575"/>
            <a:ext cx="10954200" cy="4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調整</a:t>
            </a:r>
            <a:r>
              <a:rPr b="1" lang="zh-TW" sz="2400">
                <a:solidFill>
                  <a:schemeClr val="accent1"/>
                </a:solidFill>
              </a:rPr>
              <a:t>設定檔(AICUP_training.json)</a:t>
            </a:r>
            <a:r>
              <a:rPr b="1" lang="zh-TW" sz="2400">
                <a:solidFill>
                  <a:srgbClr val="FF0000"/>
                </a:solidFill>
              </a:rPr>
              <a:t>增加</a:t>
            </a:r>
            <a:r>
              <a:rPr b="1" lang="zh-TW" sz="2400">
                <a:solidFill>
                  <a:srgbClr val="FF0000"/>
                </a:solidFill>
              </a:rPr>
              <a:t>筆數，</a:t>
            </a:r>
            <a:r>
              <a:rPr b="1" lang="zh-TW" sz="2400">
                <a:solidFill>
                  <a:schemeClr val="accent1"/>
                </a:solidFill>
              </a:rPr>
              <a:t>訓練/驗證/測試</a:t>
            </a:r>
            <a:r>
              <a:rPr b="1" lang="zh-TW" sz="2400">
                <a:solidFill>
                  <a:srgbClr val="FF0000"/>
                </a:solidFill>
              </a:rPr>
              <a:t>(20/5/5)筆。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Colab 承重</a:t>
            </a:r>
            <a:r>
              <a:rPr b="1" lang="zh-TW" sz="2400">
                <a:solidFill>
                  <a:srgbClr val="FF0000"/>
                </a:solidFill>
              </a:rPr>
              <a:t>最多</a:t>
            </a:r>
            <a:r>
              <a:rPr b="1" lang="zh-TW" sz="2400">
                <a:solidFill>
                  <a:schemeClr val="accent1"/>
                </a:solidFill>
              </a:rPr>
              <a:t>訓練/驗證/測試</a:t>
            </a:r>
            <a:r>
              <a:rPr b="1" lang="zh-TW" sz="2400">
                <a:solidFill>
                  <a:srgbClr val="FF0000"/>
                </a:solidFill>
              </a:rPr>
              <a:t>(20/5/5)</a:t>
            </a:r>
            <a:r>
              <a:rPr b="1" lang="zh-TW" sz="2400">
                <a:solidFill>
                  <a:srgbClr val="FF0000"/>
                </a:solidFill>
              </a:rPr>
              <a:t>筆</a:t>
            </a:r>
            <a:r>
              <a:rPr b="1" lang="zh-TW" sz="2400">
                <a:solidFill>
                  <a:srgbClr val="FF0000"/>
                </a:solidFill>
              </a:rPr>
              <a:t>，超過的話會 out of memory。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請將測試筆數固定設置為patient0001~0005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將 Colab 上面訓練出來的 Dice 分數結果(如下圖)，截圖並放到</a:t>
            </a:r>
            <a:r>
              <a:rPr b="1" lang="zh-TW" sz="2400">
                <a:solidFill>
                  <a:schemeClr val="accent1"/>
                </a:solidFill>
              </a:rPr>
              <a:t>作品集網站</a:t>
            </a:r>
            <a:r>
              <a:rPr b="1" lang="zh-TW" sz="2400">
                <a:solidFill>
                  <a:srgbClr val="FF0000"/>
                </a:solidFill>
              </a:rPr>
              <a:t>。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235" name="Google Shape;235;g3834dd74f43_0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>
                <a:solidFill>
                  <a:srgbClr val="FF0000"/>
                </a:solidFill>
              </a:rPr>
              <a:t>P.</a:t>
            </a:r>
            <a:fld id="{00000000-1234-1234-1234-123412341234}" type="slidenum">
              <a:rPr lang="zh-TW">
                <a:solidFill>
                  <a:srgbClr val="FF0000"/>
                </a:solidFill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  <p:pic>
        <p:nvPicPr>
          <p:cNvPr id="236" name="Google Shape;236;g3834dd74f43_0_0"/>
          <p:cNvPicPr preferRelativeResize="0"/>
          <p:nvPr/>
        </p:nvPicPr>
        <p:blipFill rotWithShape="1">
          <a:blip r:embed="rId3">
            <a:alphaModFix/>
          </a:blip>
          <a:srcRect b="0" l="0" r="44112" t="55460"/>
          <a:stretch/>
        </p:blipFill>
        <p:spPr>
          <a:xfrm>
            <a:off x="1592301" y="3643550"/>
            <a:ext cx="9038577" cy="3102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834dd74f43_0_0"/>
          <p:cNvSpPr/>
          <p:nvPr/>
        </p:nvSpPr>
        <p:spPr>
          <a:xfrm>
            <a:off x="3387350" y="5817325"/>
            <a:ext cx="1776600" cy="858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e4c1bcdb8_0_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8e4c1bcdb8_0_2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FF0000"/>
                </a:solidFill>
              </a:rPr>
              <a:t>Medium baseline (4pt)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44" name="Google Shape;244;g38e4c1bcdb8_0_2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45" name="Google Shape;245;g38e4c1bcdb8_0_20"/>
          <p:cNvSpPr txBox="1"/>
          <p:nvPr>
            <p:ph idx="2" type="body"/>
          </p:nvPr>
        </p:nvSpPr>
        <p:spPr>
          <a:xfrm>
            <a:off x="954100" y="1560575"/>
            <a:ext cx="10954200" cy="4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預設的</a:t>
            </a:r>
            <a:r>
              <a:rPr b="1" lang="zh-TW" sz="2400">
                <a:solidFill>
                  <a:schemeClr val="accent1"/>
                </a:solidFill>
              </a:rPr>
              <a:t>訓練設定檔</a:t>
            </a:r>
            <a:r>
              <a:rPr b="1" lang="zh-TW" sz="2400">
                <a:solidFill>
                  <a:srgbClr val="FF0000"/>
                </a:solidFill>
              </a:rPr>
              <a:t>(AICUP_training.json) </a:t>
            </a:r>
            <a:r>
              <a:rPr b="1" lang="zh-TW" sz="2400">
                <a:solidFill>
                  <a:schemeClr val="accent1"/>
                </a:solidFill>
              </a:rPr>
              <a:t>訓練/驗證/測試(20/5/5)</a:t>
            </a:r>
            <a:r>
              <a:rPr b="1" lang="zh-TW" sz="2400">
                <a:solidFill>
                  <a:srgbClr val="FF0000"/>
                </a:solidFill>
              </a:rPr>
              <a:t>筆</a:t>
            </a:r>
            <a:endParaRPr b="1" sz="2400">
              <a:solidFill>
                <a:srgbClr val="FF0000"/>
              </a:solidFill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zh-TW">
                <a:solidFill>
                  <a:srgbClr val="FF0000"/>
                </a:solidFill>
              </a:rPr>
              <a:t>訓練：patient0011~0030	二十筆</a:t>
            </a:r>
            <a:endParaRPr b="1">
              <a:solidFill>
                <a:srgbClr val="FF0000"/>
              </a:solidFill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zh-TW">
                <a:solidFill>
                  <a:srgbClr val="FF0000"/>
                </a:solidFill>
              </a:rPr>
              <a:t>驗證：patient0046~0050	五筆</a:t>
            </a:r>
            <a:endParaRPr b="1">
              <a:solidFill>
                <a:srgbClr val="FF0000"/>
              </a:solidFill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zh-TW">
                <a:solidFill>
                  <a:srgbClr val="FF0000"/>
                </a:solidFill>
              </a:rPr>
              <a:t>測試：patient0001~0005	五筆</a:t>
            </a:r>
            <a:endParaRPr b="1">
              <a:solidFill>
                <a:srgbClr val="FF0000"/>
              </a:solidFill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Colab程式只會從50筆訓練集之中，取</a:t>
            </a:r>
            <a:r>
              <a:rPr b="1" lang="zh-TW" sz="2400" u="sng">
                <a:solidFill>
                  <a:srgbClr val="FF0000"/>
                </a:solidFill>
              </a:rPr>
              <a:t>其中的40筆</a:t>
            </a:r>
            <a:r>
              <a:rPr b="1" lang="zh-TW" sz="2400">
                <a:solidFill>
                  <a:srgbClr val="FF0000"/>
                </a:solidFill>
              </a:rPr>
              <a:t>來訓練 baseline 模型(3D U-Net)，訓練時間</a:t>
            </a:r>
            <a:r>
              <a:rPr b="1" lang="zh-TW" sz="2400">
                <a:solidFill>
                  <a:schemeClr val="accent1"/>
                </a:solidFill>
              </a:rPr>
              <a:t>耗時半小時</a:t>
            </a:r>
            <a:r>
              <a:rPr b="1" lang="zh-TW" sz="2400">
                <a:solidFill>
                  <a:srgbClr val="FF0000"/>
                </a:solidFill>
              </a:rPr>
              <a:t>。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246" name="Google Shape;246;g38e4c1bcdb8_0_2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>
                <a:solidFill>
                  <a:srgbClr val="FF0000"/>
                </a:solidFill>
              </a:rPr>
              <a:t>P.</a:t>
            </a:r>
            <a:fld id="{00000000-1234-1234-1234-123412341234}" type="slidenum">
              <a:rPr lang="zh-TW">
                <a:solidFill>
                  <a:srgbClr val="FF0000"/>
                </a:solidFill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2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7030A0"/>
                </a:solidFill>
              </a:rPr>
              <a:t>Strong baseline (2pt)</a:t>
            </a:r>
            <a:endParaRPr/>
          </a:p>
        </p:txBody>
      </p:sp>
      <p:sp>
        <p:nvSpPr>
          <p:cNvPr id="253" name="Google Shape;253;p4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4" name="Google Shape;254;p4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5" name="Google Shape;255;p42"/>
          <p:cNvSpPr txBox="1"/>
          <p:nvPr>
            <p:ph idx="2" type="body"/>
          </p:nvPr>
        </p:nvSpPr>
        <p:spPr>
          <a:xfrm>
            <a:off x="954100" y="1560575"/>
            <a:ext cx="10539300" cy="4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使用其他模型(例如: Attn U-Net、UNETR、Swin UNETR...等)，對心臟資料進行訓練，並繳交</a:t>
            </a:r>
            <a:r>
              <a:rPr b="1" lang="zh-TW" sz="2400">
                <a:solidFill>
                  <a:srgbClr val="FF0000"/>
                </a:solidFill>
              </a:rPr>
              <a:t> Colab 程式碼連結</a:t>
            </a:r>
            <a:r>
              <a:rPr b="1" lang="zh-TW" sz="2400">
                <a:solidFill>
                  <a:srgbClr val="7030A0"/>
                </a:solidFill>
              </a:rPr>
              <a:t>到你的 HW02 作品集。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 u="sng">
                <a:solidFill>
                  <a:schemeClr val="hlink"/>
                </a:solidFill>
                <a:hlinkClick r:id="rId3"/>
              </a:rPr>
              <a:t>https://docs.monai.io/en/stable/networks.html#nets</a:t>
            </a:r>
            <a:endParaRPr b="1" sz="2400">
              <a:solidFill>
                <a:srgbClr val="7030A0"/>
              </a:solidFill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比賽可以成功訓練出最多的模型數量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成功訓練出最多的模型數量</a:t>
            </a:r>
            <a:r>
              <a:rPr b="1" lang="zh-TW" sz="2400">
                <a:solidFill>
                  <a:srgbClr val="7030A0"/>
                </a:solidFill>
              </a:rPr>
              <a:t>，名列</a:t>
            </a:r>
            <a:r>
              <a:rPr b="1" lang="zh-TW" sz="2400">
                <a:solidFill>
                  <a:srgbClr val="FF0000"/>
                </a:solidFill>
              </a:rPr>
              <a:t>全班前20名</a:t>
            </a:r>
            <a:r>
              <a:rPr b="1" lang="zh-TW" sz="2400">
                <a:solidFill>
                  <a:srgbClr val="7030A0"/>
                </a:solidFill>
              </a:rPr>
              <a:t>。(1pt)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成功訓練出最多的模型數量</a:t>
            </a:r>
            <a:r>
              <a:rPr b="1" lang="zh-TW" sz="2400">
                <a:solidFill>
                  <a:srgbClr val="7030A0"/>
                </a:solidFill>
              </a:rPr>
              <a:t>，</a:t>
            </a:r>
            <a:r>
              <a:rPr b="1" lang="zh-TW" sz="2400">
                <a:solidFill>
                  <a:srgbClr val="7030A0"/>
                </a:solidFill>
              </a:rPr>
              <a:t>名列</a:t>
            </a:r>
            <a:r>
              <a:rPr b="1" lang="zh-TW" sz="2400">
                <a:solidFill>
                  <a:srgbClr val="FF0000"/>
                </a:solidFill>
              </a:rPr>
              <a:t>全班前10名</a:t>
            </a:r>
            <a:r>
              <a:rPr b="1" lang="zh-TW" sz="2400">
                <a:solidFill>
                  <a:srgbClr val="7030A0"/>
                </a:solidFill>
              </a:rPr>
              <a:t>。(1pt)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並將成功訓練出的畫面截圖並放到</a:t>
            </a:r>
            <a:r>
              <a:rPr b="1" lang="zh-TW" sz="2400">
                <a:solidFill>
                  <a:srgbClr val="FF0000"/>
                </a:solidFill>
              </a:rPr>
              <a:t>作品集網站，並說明使用了哪些模型。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使用15筆資料就可</a:t>
            </a:r>
            <a:endParaRPr b="1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e4c1bcdb8_0_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https://docs.monai.io/en/stable/networks.html#nets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8e4c1bcdb8_0_1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7030A0"/>
                </a:solidFill>
              </a:rPr>
              <a:t>Strong baseline (2pt)</a:t>
            </a:r>
            <a:endParaRPr/>
          </a:p>
        </p:txBody>
      </p:sp>
      <p:sp>
        <p:nvSpPr>
          <p:cNvPr id="262" name="Google Shape;262;g38e4c1bcdb8_0_1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https://docs.monai.io/en/stable/networks.html#nets</a:t>
            </a:r>
            <a:endParaRPr/>
          </a:p>
        </p:txBody>
      </p:sp>
      <p:sp>
        <p:nvSpPr>
          <p:cNvPr id="263" name="Google Shape;263;g38e4c1bcdb8_0_1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4" name="Google Shape;264;g38e4c1bcdb8_0_10"/>
          <p:cNvSpPr txBox="1"/>
          <p:nvPr>
            <p:ph idx="2" type="body"/>
          </p:nvPr>
        </p:nvSpPr>
        <p:spPr>
          <a:xfrm>
            <a:off x="954100" y="1560575"/>
            <a:ext cx="10102800" cy="3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model_name = 'unet3d'						</a:t>
            </a:r>
            <a:r>
              <a:rPr b="1" lang="zh-TW" sz="2400">
                <a:solidFill>
                  <a:srgbClr val="FF0000"/>
                </a:solidFill>
              </a:rPr>
              <a:t>紅色為Monai內建的模型</a:t>
            </a:r>
            <a:endParaRPr b="1" sz="2400">
              <a:solidFill>
                <a:srgbClr val="FF0000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○"/>
            </a:pPr>
            <a:r>
              <a:rPr b="1" lang="zh-TW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unet3d										</a:t>
            </a:r>
            <a:r>
              <a:rPr b="1" lang="zh-TW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紫色為實驗室提供的模型</a:t>
            </a:r>
            <a:endParaRPr b="1">
              <a:solidFill>
                <a:schemeClr val="accent2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○"/>
            </a:pPr>
            <a:r>
              <a:rPr b="1" lang="zh-TW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attention_unet</a:t>
            </a:r>
            <a:endParaRPr b="1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○"/>
            </a:pPr>
            <a:r>
              <a:rPr b="1" lang="zh-TW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DynUNet</a:t>
            </a:r>
            <a:endParaRPr b="1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○"/>
            </a:pPr>
            <a:r>
              <a:rPr b="1" lang="zh-TW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cotr</a:t>
            </a:r>
            <a:endParaRPr b="1">
              <a:solidFill>
                <a:srgbClr val="7030A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○"/>
            </a:pPr>
            <a:r>
              <a:rPr b="1" lang="zh-TW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unetr</a:t>
            </a:r>
            <a:endParaRPr b="1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○"/>
            </a:pPr>
            <a:r>
              <a:rPr b="1" lang="zh-TW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swinunetr</a:t>
            </a:r>
            <a:endParaRPr b="1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○"/>
            </a:pPr>
            <a:r>
              <a:rPr b="1" lang="zh-TW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unetcnx_a1</a:t>
            </a:r>
            <a:endParaRPr b="1">
              <a:solidFill>
                <a:srgbClr val="7030A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○"/>
            </a:pPr>
            <a:r>
              <a:rPr b="1" lang="zh-TW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unest</a:t>
            </a:r>
            <a:endParaRPr b="1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○"/>
            </a:pPr>
            <a:r>
              <a:rPr b="1" lang="zh-TW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testnet </a:t>
            </a:r>
            <a:br>
              <a:rPr b="1" lang="zh-TW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b="1" sz="240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繳交資訊</a:t>
            </a:r>
            <a:endParaRPr/>
          </a:p>
        </p:txBody>
      </p:sp>
      <p:sp>
        <p:nvSpPr>
          <p:cNvPr id="270" name="Google Shape;270;p43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章節06</a:t>
            </a:r>
            <a:endParaRPr/>
          </a:p>
        </p:txBody>
      </p:sp>
      <p:sp>
        <p:nvSpPr>
          <p:cNvPr id="271" name="Google Shape;271;p43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04</a:t>
            </a:r>
            <a:endParaRPr/>
          </a:p>
        </p:txBody>
      </p:sp>
      <p:sp>
        <p:nvSpPr>
          <p:cNvPr id="272" name="Google Shape;272;p43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3" name="Google Shape;273;p43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11f23a0b7_0_52"/>
          <p:cNvSpPr txBox="1"/>
          <p:nvPr>
            <p:ph type="ctrTitle"/>
          </p:nvPr>
        </p:nvSpPr>
        <p:spPr>
          <a:xfrm>
            <a:off x="903345" y="533663"/>
            <a:ext cx="11663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作業上傳</a:t>
            </a:r>
            <a:endParaRPr/>
          </a:p>
        </p:txBody>
      </p:sp>
      <p:sp>
        <p:nvSpPr>
          <p:cNvPr id="279" name="Google Shape;279;g3311f23a0b7_0_52"/>
          <p:cNvSpPr txBox="1"/>
          <p:nvPr>
            <p:ph idx="1" type="body"/>
          </p:nvPr>
        </p:nvSpPr>
        <p:spPr>
          <a:xfrm>
            <a:off x="1656376" y="8276495"/>
            <a:ext cx="1382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6096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0" name="Google Shape;280;g3311f23a0b7_0_52"/>
          <p:cNvSpPr txBox="1"/>
          <p:nvPr>
            <p:ph idx="12" type="sldNum"/>
          </p:nvPr>
        </p:nvSpPr>
        <p:spPr>
          <a:xfrm>
            <a:off x="903340" y="8261561"/>
            <a:ext cx="753300" cy="31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1" name="Google Shape;281;g3311f23a0b7_0_52"/>
          <p:cNvSpPr txBox="1"/>
          <p:nvPr/>
        </p:nvSpPr>
        <p:spPr>
          <a:xfrm>
            <a:off x="903340" y="1362975"/>
            <a:ext cx="10902300" cy="4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作業二作品集，請上傳至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zh-TW" sz="24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https://github.com/你的帳號/ml2025f/tree/main/hw02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34290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繳交範例，請見</a:t>
            </a:r>
            <a:r>
              <a:rPr lang="zh-TW" sz="24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/>
              </a:rPr>
              <a:t>https://golden-demise.github.io/ml2025f/hw02/index.html</a:t>
            </a:r>
            <a:r>
              <a:rPr lang="zh-TW" sz="24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5"/>
              </a:rPr>
              <a:t> 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08cba9ff31_1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Regulations</a:t>
            </a:r>
            <a:endParaRPr/>
          </a:p>
        </p:txBody>
      </p:sp>
      <p:sp>
        <p:nvSpPr>
          <p:cNvPr id="288" name="Google Shape;288;g208cba9ff31_1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89" name="Google Shape;289;g208cba9ff31_1_0"/>
          <p:cNvSpPr txBox="1"/>
          <p:nvPr>
            <p:ph idx="2" type="body"/>
          </p:nvPr>
        </p:nvSpPr>
        <p:spPr>
          <a:xfrm>
            <a:off x="954088" y="1618596"/>
            <a:ext cx="10442918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You should finish your homework on your own.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Do not share your codes with any living creatures.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Your HW will get 0 pt if you violate any of the above rules.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Professor &amp; TAs preserve the rights to change the rules &amp; grades.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290" name="Google Shape;290;g208cba9ff31_1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2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296" name="Google Shape;296;p6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章節07</a:t>
            </a:r>
            <a:endParaRPr/>
          </a:p>
        </p:txBody>
      </p:sp>
      <p:sp>
        <p:nvSpPr>
          <p:cNvPr id="297" name="Google Shape;297;p62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05</a:t>
            </a:r>
            <a:endParaRPr/>
          </a:p>
        </p:txBody>
      </p:sp>
      <p:sp>
        <p:nvSpPr>
          <p:cNvPr id="298" name="Google Shape;298;p6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9" name="Google Shape;299;p62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08cba9ff31_2_5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306" name="Google Shape;306;g208cba9ff31_2_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07" name="Google Shape;307;g208cba9ff31_2_5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6858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zh-TW"/>
              <a:t>TA Email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胡凱翔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t114598018@ntut.org.tw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Email 標題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2" marL="148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 : [-hw0X-學號]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2" marL="148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例如：-hw01-114598001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8" name="Google Shape;308;g208cba9ff31_2_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2021-11-03T01:57:43Z</dcterms:created>
  <dc:creator>Microsoft Office User</dc:creator>
</cp:coreProperties>
</file>